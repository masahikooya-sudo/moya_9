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cbce5484-2a0d-b67d-3028-866aae3a136b}">
          <p14:sldIdLst>
            <p14:sldId id="256"/>
            <p14:sldId id="257"/>
            <p14:sldId id="258"/>
            <p14:sldId id="259"/>
          </p14:sldIdLst>
        </p14:section>
        <p14:section name="導入と初期設定" id="{84fa4d4c-333d-762c-ec87-6a1e371862d2}">
          <p14:sldIdLst>
            <p14:sldId id="260"/>
            <p14:sldId id="261"/>
            <p14:sldId id="262"/>
            <p14:sldId id="263"/>
            <p14:sldId id="264"/>
          </p14:sldIdLst>
        </p14:section>
        <p14:section name="使い方" id="{008a2e94-bc87-9a49-0ccd-eba70b13899a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運用ルールとFAQ" id="{e96878e6-6276-fb71-6cf1-d01febb3ca1b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本日は、Gmailに追加した「日程調整アシスタント」の展開方法と使い方をご説明します。バイヤー・サプライヤーとの打ち合わせ日程調整を、Gmailの画面から離れずに完結できるツールです。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機能は大きく4つです。最後の確定まで含めて、メールは必ず下書きで作られ、自動送信はされません。ここは安心材料として必ず伝えてください。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左がこれまでの手作業、右がツール利用後です。特に「複数人のカレンダー確認」と「確定後の後片付け（他候補削除・Meet作成）」の手間がなくなります。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流れは4ステップです。ステップ3で「調整中」、ステップ4で「確定」になります。こちらから候補日を出す場合は、ステップ1の代わりに「新規で作成」から始めます（後述）。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ここからは導入の進め方です。前半は管理者向け、後半は社員各自の作業です。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テストデプロイで動作確認済みです。本番展開では、Marketplace SDKで社内限定アプリとして登録し、管理コンソールから一括インストールします。各自でのインストール作業は不要になります。現時点でビデオ会議はGoogle Meetのみ有効です。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いきなり全社展開せず、まずパイロットで実際のバイヤー・サプライヤーのメールで試すことを推奨します。日付の書き方は相手によって癖があるため、抽出できなかった例を集めて改善に活かします。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最初に一度だけ設定します。ここで登録した氏名と署名がメール本文に入ります。よく一緒に打ち合わせに出るメンバーを登録しておくと、毎回チェックするだけで選べます。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許可画面で権限の一覧が出るので、不安に思う方がいます。何のための権限かをこのスライドで説明してください。特に、自動送信しないこと、他人の予定の中身は見ないことが重要です。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ここからは具体的な使い方です。ケースAは先方から候補日が届いた場合、ケースBはこちらから候補を出す場合です。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先方メールを開くと自動で候補日が抽出されます。②の案件情報は折りたたまれていますが、件名に使われるので、案件名は必ず確認・修正してください。初期値はメールの件名が入っています。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候補ごとに空き状況が出ます。予定ありの候補はチェックが外れた状態になりますが、チェックを入れれば送ることもできます。仮押さえは確定時に自動で整理されるので、基本はオンのままで構いません。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件名は社内で統一したルールで自動作成されます。受信トレイで状態と形式が一目で分かるようになります。下書きは返信として作られますが、件名が変わるため先方側では別スレッドに見える場合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ちらから候補を出す場合は、条件を入れるだけで全員の共通の空きを探します。先方のメールを開いた状態で「新規で作成」を押すと、宛先や会社名が自動で入り、そのスレッドへの返信として下書きが作ら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返信に「9/16でお願いします」「水曜日で」などと書かれていれば、どの候補か自動で判定します。判定できない場合は一覧から選ぶだけです。Meetのリンクはカレンダー予定と確定メールの両方に入ります。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先方の返信に「難しい」「別の候補」などが含まれていると、確定画面に注意表示と「候補日を出し直す」ボタンが出ます。中止した案件の仮押さえは必ず削除されるので、カレンダーに残りません。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最後に運用ルールとよくある質問です。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特に1つ目が重要です。自動抽出は便利ですが、メールの書き方によっては読み違えることがあります。送信前の確認を習慣にしてください。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説明会で出た質問は、この表に追記していきましょう。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問い合わせ窓口は展開前に記入してください。パイロット期間中は、抽出できなかったメールの例を集めると改善に役立ちます。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タイトル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サブタイトル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651760"/>
            <a:ext cx="9052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セクション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611880"/>
            <a:ext cx="9052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説明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日程調整アシスタント 利用マニュアル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タイトル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社員向け展開資料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日程調整アシスタント 利用マニュアル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Gmailから、社内外の打ち合わせ日程調整をワンストップで</a:t>
            </a:r>
            <a:endParaRPr lang="en-US" sz="2200" dirty="0"/>
          </a:p>
        </p:txBody>
      </p:sp>
      <p:sp>
        <p:nvSpPr>
          <p:cNvPr id="5" name="chip-2"/>
          <p:cNvSpPr/>
          <p:nvPr/>
        </p:nvSpPr>
        <p:spPr>
          <a:xfrm>
            <a:off x="731520" y="484632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-3"/>
          <p:cNvSpPr txBox="1"/>
          <p:nvPr/>
        </p:nvSpPr>
        <p:spPr>
          <a:xfrm>
            <a:off x="731520" y="48463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候補日の抽出</a:t>
            </a:r>
            <a:endParaRPr lang="en-US" sz="1300" dirty="0"/>
          </a:p>
        </p:txBody>
      </p:sp>
      <p:sp>
        <p:nvSpPr>
          <p:cNvPr id="7" name="chip-4"/>
          <p:cNvSpPr/>
          <p:nvPr/>
        </p:nvSpPr>
        <p:spPr>
          <a:xfrm>
            <a:off x="2606040" y="4846320"/>
            <a:ext cx="19202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-5"/>
          <p:cNvSpPr txBox="1"/>
          <p:nvPr/>
        </p:nvSpPr>
        <p:spPr>
          <a:xfrm>
            <a:off x="2606040" y="48463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社内の空き確認</a:t>
            </a:r>
            <a:endParaRPr lang="en-US" sz="1300" dirty="0"/>
          </a:p>
        </p:txBody>
      </p:sp>
      <p:sp>
        <p:nvSpPr>
          <p:cNvPr id="9" name="chip-6"/>
          <p:cNvSpPr/>
          <p:nvPr/>
        </p:nvSpPr>
        <p:spPr>
          <a:xfrm>
            <a:off x="4663440" y="4846320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0" name="text-7"/>
          <p:cNvSpPr txBox="1"/>
          <p:nvPr/>
        </p:nvSpPr>
        <p:spPr>
          <a:xfrm>
            <a:off x="4663440" y="4846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【調整中】仮押さえ</a:t>
            </a:r>
            <a:endParaRPr lang="en-US" sz="1300" dirty="0"/>
          </a:p>
        </p:txBody>
      </p:sp>
      <p:sp>
        <p:nvSpPr>
          <p:cNvPr id="11" name="chip-8"/>
          <p:cNvSpPr/>
          <p:nvPr/>
        </p:nvSpPr>
        <p:spPr>
          <a:xfrm>
            <a:off x="6903720" y="4846320"/>
            <a:ext cx="237744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2" name="text-9"/>
          <p:cNvSpPr txBox="1"/>
          <p:nvPr/>
        </p:nvSpPr>
        <p:spPr>
          <a:xfrm>
            <a:off x="6903720" y="4846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【確定】＋Google Meet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このツールでできること</a:t>
            </a:r>
            <a:endParaRPr lang="en-US" sz="3200" dirty="0"/>
          </a:p>
        </p:txBody>
      </p:sp>
      <p:sp>
        <p:nvSpPr>
          <p:cNvPr id="3" name="card-10"/>
          <p:cNvSpPr/>
          <p:nvPr/>
        </p:nvSpPr>
        <p:spPr>
          <a:xfrm>
            <a:off x="548640" y="146304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icon-bg-11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1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1918411"/>
            <a:ext cx="460858" cy="460858"/>
          </a:xfrm>
          <a:prstGeom prst="rect">
            <a:avLst/>
          </a:prstGeom>
        </p:spPr>
      </p:pic>
      <p:sp>
        <p:nvSpPr>
          <p:cNvPr id="6" name="text-13"/>
          <p:cNvSpPr txBox="1"/>
          <p:nvPr/>
        </p:nvSpPr>
        <p:spPr>
          <a:xfrm>
            <a:off x="822960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候補日を自動抽出</a:t>
            </a:r>
            <a:endParaRPr lang="en-US" sz="1800" dirty="0"/>
          </a:p>
        </p:txBody>
      </p:sp>
      <p:sp>
        <p:nvSpPr>
          <p:cNvPr id="7" name="text-14"/>
          <p:cNvSpPr txBox="1"/>
          <p:nvPr/>
        </p:nvSpPr>
        <p:spPr>
          <a:xfrm>
            <a:off x="822960" y="36576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先方メールに書かれた「9/15（月）13:00〜14:00」などの候補日時を読み取ります</a:t>
            </a:r>
            <a:endParaRPr lang="en-US" sz="1400" dirty="0"/>
          </a:p>
        </p:txBody>
      </p:sp>
      <p:sp>
        <p:nvSpPr>
          <p:cNvPr id="8" name="card-15"/>
          <p:cNvSpPr/>
          <p:nvPr/>
        </p:nvSpPr>
        <p:spPr>
          <a:xfrm>
            <a:off x="3383280" y="146304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icon-bg-16"/>
          <p:cNvSpPr/>
          <p:nvPr/>
        </p:nvSpPr>
        <p:spPr>
          <a:xfrm>
            <a:off x="365760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1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651" y="1918411"/>
            <a:ext cx="460858" cy="460858"/>
          </a:xfrm>
          <a:prstGeom prst="rect">
            <a:avLst/>
          </a:prstGeom>
        </p:spPr>
      </p:pic>
      <p:sp>
        <p:nvSpPr>
          <p:cNvPr id="11" name="text-18"/>
          <p:cNvSpPr txBox="1"/>
          <p:nvPr/>
        </p:nvSpPr>
        <p:spPr>
          <a:xfrm>
            <a:off x="3657600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社内の空きを一括確認</a:t>
            </a:r>
            <a:endParaRPr lang="en-US" sz="1800" dirty="0"/>
          </a:p>
        </p:txBody>
      </p:sp>
      <p:sp>
        <p:nvSpPr>
          <p:cNvPr id="12" name="text-19"/>
          <p:cNvSpPr txBox="1"/>
          <p:nvPr/>
        </p:nvSpPr>
        <p:spPr>
          <a:xfrm>
            <a:off x="3657600" y="36576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選んだ社内メンバー全員のカレンダーを確認し、参加できる候補がひと目で分かります</a:t>
            </a:r>
            <a:endParaRPr lang="en-US" sz="1400" dirty="0"/>
          </a:p>
        </p:txBody>
      </p:sp>
      <p:sp>
        <p:nvSpPr>
          <p:cNvPr id="13" name="card-20"/>
          <p:cNvSpPr/>
          <p:nvPr/>
        </p:nvSpPr>
        <p:spPr>
          <a:xfrm>
            <a:off x="6217920" y="146304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4" name="icon-bg-21"/>
          <p:cNvSpPr/>
          <p:nvPr/>
        </p:nvSpPr>
        <p:spPr>
          <a:xfrm>
            <a:off x="649224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291" y="1918411"/>
            <a:ext cx="460858" cy="460858"/>
          </a:xfrm>
          <a:prstGeom prst="rect">
            <a:avLst/>
          </a:prstGeom>
        </p:spPr>
      </p:pic>
      <p:sp>
        <p:nvSpPr>
          <p:cNvPr id="16" name="text-23"/>
          <p:cNvSpPr txBox="1"/>
          <p:nvPr/>
        </p:nvSpPr>
        <p:spPr>
          <a:xfrm>
            <a:off x="6492240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仮押さえ＋下書き作成</a:t>
            </a:r>
            <a:endParaRPr lang="en-US" sz="1800" dirty="0"/>
          </a:p>
        </p:txBody>
      </p:sp>
      <p:sp>
        <p:nvSpPr>
          <p:cNvPr id="17" name="text-24"/>
          <p:cNvSpPr txBox="1"/>
          <p:nvPr/>
        </p:nvSpPr>
        <p:spPr>
          <a:xfrm>
            <a:off x="6492240" y="36576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候補を【調整中】でカレンダーに仮押さえし、打診メールの下書きを自動作成します</a:t>
            </a:r>
            <a:endParaRPr lang="en-US" sz="1400" dirty="0"/>
          </a:p>
        </p:txBody>
      </p:sp>
      <p:sp>
        <p:nvSpPr>
          <p:cNvPr id="18" name="card-25"/>
          <p:cNvSpPr/>
          <p:nvPr/>
        </p:nvSpPr>
        <p:spPr>
          <a:xfrm>
            <a:off x="9052560" y="146304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9" name="icon-bg-26"/>
          <p:cNvSpPr/>
          <p:nvPr/>
        </p:nvSpPr>
        <p:spPr>
          <a:xfrm>
            <a:off x="932688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2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7931" y="1918411"/>
            <a:ext cx="460858" cy="460858"/>
          </a:xfrm>
          <a:prstGeom prst="rect">
            <a:avLst/>
          </a:prstGeom>
        </p:spPr>
      </p:pic>
      <p:sp>
        <p:nvSpPr>
          <p:cNvPr id="21" name="text-28"/>
          <p:cNvSpPr txBox="1"/>
          <p:nvPr/>
        </p:nvSpPr>
        <p:spPr>
          <a:xfrm>
            <a:off x="9326880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確定＋Google Meet</a:t>
            </a:r>
            <a:endParaRPr lang="en-US" sz="1800" dirty="0"/>
          </a:p>
        </p:txBody>
      </p:sp>
      <p:sp>
        <p:nvSpPr>
          <p:cNvPr id="22" name="text-29"/>
          <p:cNvSpPr txBox="1"/>
          <p:nvPr/>
        </p:nvSpPr>
        <p:spPr>
          <a:xfrm>
            <a:off x="9326880" y="36576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返信から確定日を検出。予定を【確定】に更新し、Meetのリンク入り確定メールを作成します</a:t>
            </a:r>
            <a:endParaRPr lang="en-US" sz="1400" dirty="0"/>
          </a:p>
        </p:txBody>
      </p:sp>
      <p:sp>
        <p:nvSpPr>
          <p:cNvPr id="23" name="card-30"/>
          <p:cNvSpPr/>
          <p:nvPr/>
        </p:nvSpPr>
        <p:spPr>
          <a:xfrm>
            <a:off x="548640" y="5394960"/>
            <a:ext cx="11109960" cy="6858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/>
        </p:spPr>
      </p:sp>
      <p:pic>
        <p:nvPicPr>
          <p:cNvPr id="24" name="warn-3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32120"/>
            <a:ext cx="411480" cy="411480"/>
          </a:xfrm>
          <a:prstGeom prst="rect">
            <a:avLst/>
          </a:prstGeom>
        </p:spPr>
      </p:pic>
      <p:sp>
        <p:nvSpPr>
          <p:cNvPr id="25" name="text-32"/>
          <p:cNvSpPr txBox="1"/>
          <p:nvPr/>
        </p:nvSpPr>
        <p:spPr>
          <a:xfrm>
            <a:off x="1371600" y="5394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メールは自動送信されません。作成されるのは「下書き」なので、確認してから送信してください。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日程調整がこう変わります</a:t>
            </a:r>
            <a:endParaRPr lang="en-US" sz="3200" dirty="0"/>
          </a:p>
        </p:txBody>
      </p:sp>
      <p:sp>
        <p:nvSpPr>
          <p:cNvPr id="3" name="card-33"/>
          <p:cNvSpPr/>
          <p:nvPr/>
        </p:nvSpPr>
        <p:spPr>
          <a:xfrm>
            <a:off x="548640" y="1463040"/>
            <a:ext cx="5257800" cy="4617720"/>
          </a:xfrm>
          <a:prstGeom prst="roundRect">
            <a:avLst>
              <a:gd name="adj" fmla="val 2376"/>
            </a:avLst>
          </a:prstGeom>
          <a:solidFill>
            <a:srgbClr val="F1F3F4"/>
          </a:solidFill>
          <a:ln/>
        </p:spPr>
      </p:sp>
      <p:sp>
        <p:nvSpPr>
          <p:cNvPr id="4" name="card-34"/>
          <p:cNvSpPr/>
          <p:nvPr/>
        </p:nvSpPr>
        <p:spPr>
          <a:xfrm>
            <a:off x="6400800" y="1463040"/>
            <a:ext cx="5257800" cy="4617720"/>
          </a:xfrm>
          <a:prstGeom prst="roundRect">
            <a:avLst>
              <a:gd name="adj" fmla="val 2376"/>
            </a:avLst>
          </a:prstGeom>
          <a:solidFill>
            <a:schemeClr val="bg2"/>
          </a:solidFill>
          <a:ln/>
        </p:spPr>
      </p:sp>
      <p:sp>
        <p:nvSpPr>
          <p:cNvPr id="5" name="text-35"/>
          <p:cNvSpPr txBox="1"/>
          <p:nvPr/>
        </p:nvSpPr>
        <p:spPr>
          <a:xfrm>
            <a:off x="86868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これまで</a:t>
            </a:r>
            <a:endParaRPr lang="en-US" sz="2000" dirty="0"/>
          </a:p>
        </p:txBody>
      </p:sp>
      <p:sp>
        <p:nvSpPr>
          <p:cNvPr id="6" name="text-36"/>
          <p:cNvSpPr txBox="1"/>
          <p:nvPr/>
        </p:nvSpPr>
        <p:spPr>
          <a:xfrm>
            <a:off x="672084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アシスタント利用後</a:t>
            </a:r>
            <a:endParaRPr lang="en-US" sz="2000" dirty="0"/>
          </a:p>
        </p:txBody>
      </p:sp>
      <p:sp>
        <p:nvSpPr>
          <p:cNvPr id="7" name="num-bg-37"/>
          <p:cNvSpPr/>
          <p:nvPr/>
        </p:nvSpPr>
        <p:spPr>
          <a:xfrm>
            <a:off x="868680" y="237744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8" name="text-38"/>
          <p:cNvSpPr txBox="1"/>
          <p:nvPr/>
        </p:nvSpPr>
        <p:spPr>
          <a:xfrm>
            <a:off x="8686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-39"/>
          <p:cNvSpPr txBox="1"/>
          <p:nvPr/>
        </p:nvSpPr>
        <p:spPr>
          <a:xfrm>
            <a:off x="1417320" y="23774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メールの候補日を手元にメモ</a:t>
            </a:r>
            <a:endParaRPr lang="en-US" sz="1500" dirty="0"/>
          </a:p>
        </p:txBody>
      </p:sp>
      <p:sp>
        <p:nvSpPr>
          <p:cNvPr id="10" name="num-bg-40"/>
          <p:cNvSpPr/>
          <p:nvPr/>
        </p:nvSpPr>
        <p:spPr>
          <a:xfrm>
            <a:off x="868680" y="309067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text-41"/>
          <p:cNvSpPr txBox="1"/>
          <p:nvPr/>
        </p:nvSpPr>
        <p:spPr>
          <a:xfrm>
            <a:off x="86868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-42"/>
          <p:cNvSpPr txBox="1"/>
          <p:nvPr/>
        </p:nvSpPr>
        <p:spPr>
          <a:xfrm>
            <a:off x="1417320" y="30906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参加者のカレンダーを一人ずつ確認</a:t>
            </a:r>
            <a:endParaRPr lang="en-US" sz="1500" dirty="0"/>
          </a:p>
        </p:txBody>
      </p:sp>
      <p:sp>
        <p:nvSpPr>
          <p:cNvPr id="13" name="num-bg-43"/>
          <p:cNvSpPr/>
          <p:nvPr/>
        </p:nvSpPr>
        <p:spPr>
          <a:xfrm>
            <a:off x="868680" y="380390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4" name="text-44"/>
          <p:cNvSpPr txBox="1"/>
          <p:nvPr/>
        </p:nvSpPr>
        <p:spPr>
          <a:xfrm>
            <a:off x="86868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-45"/>
          <p:cNvSpPr txBox="1"/>
          <p:nvPr/>
        </p:nvSpPr>
        <p:spPr>
          <a:xfrm>
            <a:off x="1417320" y="38039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空いている枠を手でカレンダーに登録</a:t>
            </a:r>
            <a:endParaRPr lang="en-US" sz="1500" dirty="0"/>
          </a:p>
        </p:txBody>
      </p:sp>
      <p:sp>
        <p:nvSpPr>
          <p:cNvPr id="16" name="num-bg-46"/>
          <p:cNvSpPr/>
          <p:nvPr/>
        </p:nvSpPr>
        <p:spPr>
          <a:xfrm>
            <a:off x="868680" y="451713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7" name="text-47"/>
          <p:cNvSpPr txBox="1"/>
          <p:nvPr/>
        </p:nvSpPr>
        <p:spPr>
          <a:xfrm>
            <a:off x="86868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-48"/>
          <p:cNvSpPr txBox="1"/>
          <p:nvPr/>
        </p:nvSpPr>
        <p:spPr>
          <a:xfrm>
            <a:off x="1417320" y="45171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メール本文・件名を一から作成</a:t>
            </a:r>
            <a:endParaRPr lang="en-US" sz="1500" dirty="0"/>
          </a:p>
        </p:txBody>
      </p:sp>
      <p:sp>
        <p:nvSpPr>
          <p:cNvPr id="19" name="num-bg-49"/>
          <p:cNvSpPr/>
          <p:nvPr/>
        </p:nvSpPr>
        <p:spPr>
          <a:xfrm>
            <a:off x="868680" y="523036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0" name="text-50"/>
          <p:cNvSpPr txBox="1"/>
          <p:nvPr/>
        </p:nvSpPr>
        <p:spPr>
          <a:xfrm>
            <a:off x="868680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-51"/>
          <p:cNvSpPr txBox="1"/>
          <p:nvPr/>
        </p:nvSpPr>
        <p:spPr>
          <a:xfrm>
            <a:off x="1417320" y="52303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確定後にMeet作成・予定修正・他候補の削除</a:t>
            </a:r>
            <a:endParaRPr lang="en-US" sz="1500" dirty="0"/>
          </a:p>
        </p:txBody>
      </p:sp>
      <p:sp>
        <p:nvSpPr>
          <p:cNvPr id="22" name="num-bg-52"/>
          <p:cNvSpPr/>
          <p:nvPr/>
        </p:nvSpPr>
        <p:spPr>
          <a:xfrm>
            <a:off x="6720840" y="2377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-53"/>
          <p:cNvSpPr txBox="1"/>
          <p:nvPr/>
        </p:nvSpPr>
        <p:spPr>
          <a:xfrm>
            <a:off x="67208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4" name="text-54"/>
          <p:cNvSpPr txBox="1"/>
          <p:nvPr/>
        </p:nvSpPr>
        <p:spPr>
          <a:xfrm>
            <a:off x="7269480" y="23774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メールを開いてサイドバーを表示するだけ</a:t>
            </a:r>
            <a:endParaRPr lang="en-US" sz="1500" dirty="0"/>
          </a:p>
        </p:txBody>
      </p:sp>
      <p:sp>
        <p:nvSpPr>
          <p:cNvPr id="25" name="num-bg-55"/>
          <p:cNvSpPr/>
          <p:nvPr/>
        </p:nvSpPr>
        <p:spPr>
          <a:xfrm>
            <a:off x="6720840" y="30906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-56"/>
          <p:cNvSpPr txBox="1"/>
          <p:nvPr/>
        </p:nvSpPr>
        <p:spPr>
          <a:xfrm>
            <a:off x="672084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7" name="text-57"/>
          <p:cNvSpPr txBox="1"/>
          <p:nvPr/>
        </p:nvSpPr>
        <p:spPr>
          <a:xfrm>
            <a:off x="7269480" y="30906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全員の空き状況が候補ごとに一覧表示</a:t>
            </a:r>
            <a:endParaRPr lang="en-US" sz="1500" dirty="0"/>
          </a:p>
        </p:txBody>
      </p:sp>
      <p:sp>
        <p:nvSpPr>
          <p:cNvPr id="28" name="num-bg-58"/>
          <p:cNvSpPr/>
          <p:nvPr/>
        </p:nvSpPr>
        <p:spPr>
          <a:xfrm>
            <a:off x="6720840" y="38039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-59"/>
          <p:cNvSpPr txBox="1"/>
          <p:nvPr/>
        </p:nvSpPr>
        <p:spPr>
          <a:xfrm>
            <a:off x="672084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0" name="text-60"/>
          <p:cNvSpPr txBox="1"/>
          <p:nvPr/>
        </p:nvSpPr>
        <p:spPr>
          <a:xfrm>
            <a:off x="7269480" y="38039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【調整中】の仮押さえを自動作成</a:t>
            </a:r>
            <a:endParaRPr lang="en-US" sz="1500" dirty="0"/>
          </a:p>
        </p:txBody>
      </p:sp>
      <p:sp>
        <p:nvSpPr>
          <p:cNvPr id="31" name="num-bg-61"/>
          <p:cNvSpPr/>
          <p:nvPr/>
        </p:nvSpPr>
        <p:spPr>
          <a:xfrm>
            <a:off x="6720840" y="45171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-62"/>
          <p:cNvSpPr txBox="1"/>
          <p:nvPr/>
        </p:nvSpPr>
        <p:spPr>
          <a:xfrm>
            <a:off x="672084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3" name="text-63"/>
          <p:cNvSpPr txBox="1"/>
          <p:nvPr/>
        </p:nvSpPr>
        <p:spPr>
          <a:xfrm>
            <a:off x="7269480" y="45171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件名ルールに沿った下書きを自動作成</a:t>
            </a:r>
            <a:endParaRPr lang="en-US" sz="1500" dirty="0"/>
          </a:p>
        </p:txBody>
      </p:sp>
      <p:sp>
        <p:nvSpPr>
          <p:cNvPr id="34" name="num-bg-64"/>
          <p:cNvSpPr/>
          <p:nvPr/>
        </p:nvSpPr>
        <p:spPr>
          <a:xfrm>
            <a:off x="6720840" y="52303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-65"/>
          <p:cNvSpPr txBox="1"/>
          <p:nvPr/>
        </p:nvSpPr>
        <p:spPr>
          <a:xfrm>
            <a:off x="6720840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text-66"/>
          <p:cNvSpPr txBox="1"/>
          <p:nvPr/>
        </p:nvSpPr>
        <p:spPr>
          <a:xfrm>
            <a:off x="7269480" y="52303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「日程を確定する」ボタンでまとめて完了</a:t>
            </a:r>
            <a:endParaRPr lang="en-US" sz="1500" dirty="0"/>
          </a:p>
        </p:txBody>
      </p:sp>
      <p:sp>
        <p:nvSpPr>
          <p:cNvPr id="37" name="arrow-67"/>
          <p:cNvSpPr/>
          <p:nvPr/>
        </p:nvSpPr>
        <p:spPr>
          <a:xfrm>
            <a:off x="5897880" y="3474720"/>
            <a:ext cx="411480" cy="5486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日程調整の全体の流れ</a:t>
            </a:r>
            <a:endParaRPr lang="en-US" sz="3200" dirty="0"/>
          </a:p>
        </p:txBody>
      </p:sp>
      <p:sp>
        <p:nvSpPr>
          <p:cNvPr id="3" name="card-68"/>
          <p:cNvSpPr/>
          <p:nvPr/>
        </p:nvSpPr>
        <p:spPr>
          <a:xfrm>
            <a:off x="548640" y="1600200"/>
            <a:ext cx="2514600" cy="27432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4" name="num-bg-69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-70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icon-bg-71"/>
          <p:cNvSpPr/>
          <p:nvPr/>
        </p:nvSpPr>
        <p:spPr>
          <a:xfrm>
            <a:off x="2240280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7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1039" y="1913839"/>
            <a:ext cx="332842" cy="332842"/>
          </a:xfrm>
          <a:prstGeom prst="rect">
            <a:avLst/>
          </a:prstGeom>
        </p:spPr>
      </p:pic>
      <p:sp>
        <p:nvSpPr>
          <p:cNvPr id="8" name="text-73"/>
          <p:cNvSpPr txBox="1"/>
          <p:nvPr/>
        </p:nvSpPr>
        <p:spPr>
          <a:xfrm>
            <a:off x="77724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受信メールを開く</a:t>
            </a:r>
            <a:endParaRPr lang="en-US" sz="1800" dirty="0"/>
          </a:p>
        </p:txBody>
      </p:sp>
      <p:sp>
        <p:nvSpPr>
          <p:cNvPr id="9" name="text-74"/>
          <p:cNvSpPr txBox="1"/>
          <p:nvPr/>
        </p:nvSpPr>
        <p:spPr>
          <a:xfrm>
            <a:off x="777240" y="3154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Gmail右側のアシスタントのアイコンをクリック</a:t>
            </a:r>
            <a:endParaRPr lang="en-US" sz="1400" dirty="0"/>
          </a:p>
        </p:txBody>
      </p:sp>
      <p:sp>
        <p:nvSpPr>
          <p:cNvPr id="10" name="arrow-75"/>
          <p:cNvSpPr/>
          <p:nvPr/>
        </p:nvSpPr>
        <p:spPr>
          <a:xfrm>
            <a:off x="3108960" y="2926080"/>
            <a:ext cx="27432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card-76"/>
          <p:cNvSpPr/>
          <p:nvPr/>
        </p:nvSpPr>
        <p:spPr>
          <a:xfrm>
            <a:off x="3429000" y="1600200"/>
            <a:ext cx="2514600" cy="27432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2" name="num-bg-77"/>
          <p:cNvSpPr/>
          <p:nvPr/>
        </p:nvSpPr>
        <p:spPr>
          <a:xfrm>
            <a:off x="3657600" y="17830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-78"/>
          <p:cNvSpPr txBox="1"/>
          <p:nvPr/>
        </p:nvSpPr>
        <p:spPr>
          <a:xfrm>
            <a:off x="36576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icon-bg-79"/>
          <p:cNvSpPr/>
          <p:nvPr/>
        </p:nvSpPr>
        <p:spPr>
          <a:xfrm>
            <a:off x="5120640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8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399" y="1913839"/>
            <a:ext cx="332842" cy="332842"/>
          </a:xfrm>
          <a:prstGeom prst="rect">
            <a:avLst/>
          </a:prstGeom>
        </p:spPr>
      </p:pic>
      <p:sp>
        <p:nvSpPr>
          <p:cNvPr id="16" name="text-81"/>
          <p:cNvSpPr txBox="1"/>
          <p:nvPr/>
        </p:nvSpPr>
        <p:spPr>
          <a:xfrm>
            <a:off x="365760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候補抽出・空き確認</a:t>
            </a:r>
            <a:endParaRPr lang="en-US" sz="1800" dirty="0"/>
          </a:p>
        </p:txBody>
      </p:sp>
      <p:sp>
        <p:nvSpPr>
          <p:cNvPr id="17" name="text-82"/>
          <p:cNvSpPr txBox="1"/>
          <p:nvPr/>
        </p:nvSpPr>
        <p:spPr>
          <a:xfrm>
            <a:off x="3657600" y="3154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候補日と社内参加者を選び「空き状況を確認」</a:t>
            </a:r>
            <a:endParaRPr lang="en-US" sz="1400" dirty="0"/>
          </a:p>
        </p:txBody>
      </p:sp>
      <p:sp>
        <p:nvSpPr>
          <p:cNvPr id="18" name="arrow-83"/>
          <p:cNvSpPr/>
          <p:nvPr/>
        </p:nvSpPr>
        <p:spPr>
          <a:xfrm>
            <a:off x="5989320" y="2926080"/>
            <a:ext cx="27432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9" name="card-84"/>
          <p:cNvSpPr/>
          <p:nvPr/>
        </p:nvSpPr>
        <p:spPr>
          <a:xfrm>
            <a:off x="6309360" y="1600200"/>
            <a:ext cx="2514600" cy="27432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20" name="num-bg-85"/>
          <p:cNvSpPr/>
          <p:nvPr/>
        </p:nvSpPr>
        <p:spPr>
          <a:xfrm>
            <a:off x="6537960" y="17830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text-86"/>
          <p:cNvSpPr txBox="1"/>
          <p:nvPr/>
        </p:nvSpPr>
        <p:spPr>
          <a:xfrm>
            <a:off x="6537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icon-bg-87"/>
          <p:cNvSpPr/>
          <p:nvPr/>
        </p:nvSpPr>
        <p:spPr>
          <a:xfrm>
            <a:off x="8001000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-8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759" y="1913839"/>
            <a:ext cx="332842" cy="332842"/>
          </a:xfrm>
          <a:prstGeom prst="rect">
            <a:avLst/>
          </a:prstGeom>
        </p:spPr>
      </p:pic>
      <p:sp>
        <p:nvSpPr>
          <p:cNvPr id="24" name="text-89"/>
          <p:cNvSpPr txBox="1"/>
          <p:nvPr/>
        </p:nvSpPr>
        <p:spPr>
          <a:xfrm>
            <a:off x="653796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仮押さえ＋下書き</a:t>
            </a:r>
            <a:endParaRPr lang="en-US" sz="1800" dirty="0"/>
          </a:p>
        </p:txBody>
      </p:sp>
      <p:sp>
        <p:nvSpPr>
          <p:cNvPr id="25" name="text-90"/>
          <p:cNvSpPr txBox="1"/>
          <p:nvPr/>
        </p:nvSpPr>
        <p:spPr>
          <a:xfrm>
            <a:off x="6537960" y="3154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候補をカレンダーに仮押さえし、打診メールを送信</a:t>
            </a:r>
            <a:endParaRPr lang="en-US" sz="1400" dirty="0"/>
          </a:p>
        </p:txBody>
      </p:sp>
      <p:sp>
        <p:nvSpPr>
          <p:cNvPr id="26" name="arrow-91"/>
          <p:cNvSpPr/>
          <p:nvPr/>
        </p:nvSpPr>
        <p:spPr>
          <a:xfrm>
            <a:off x="8869680" y="2926080"/>
            <a:ext cx="27432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7" name="card-92"/>
          <p:cNvSpPr/>
          <p:nvPr/>
        </p:nvSpPr>
        <p:spPr>
          <a:xfrm>
            <a:off x="9189720" y="1600200"/>
            <a:ext cx="2514600" cy="27432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28" name="num-bg-93"/>
          <p:cNvSpPr/>
          <p:nvPr/>
        </p:nvSpPr>
        <p:spPr>
          <a:xfrm>
            <a:off x="9418320" y="17830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-94"/>
          <p:cNvSpPr txBox="1"/>
          <p:nvPr/>
        </p:nvSpPr>
        <p:spPr>
          <a:xfrm>
            <a:off x="94183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icon-bg-95"/>
          <p:cNvSpPr/>
          <p:nvPr/>
        </p:nvSpPr>
        <p:spPr>
          <a:xfrm>
            <a:off x="10881360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con-9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119" y="1913839"/>
            <a:ext cx="332842" cy="332842"/>
          </a:xfrm>
          <a:prstGeom prst="rect">
            <a:avLst/>
          </a:prstGeom>
        </p:spPr>
      </p:pic>
      <p:sp>
        <p:nvSpPr>
          <p:cNvPr id="32" name="text-97"/>
          <p:cNvSpPr txBox="1"/>
          <p:nvPr/>
        </p:nvSpPr>
        <p:spPr>
          <a:xfrm>
            <a:off x="941832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返信を開いて確定</a:t>
            </a:r>
            <a:endParaRPr lang="en-US" sz="1800" dirty="0"/>
          </a:p>
        </p:txBody>
      </p:sp>
      <p:sp>
        <p:nvSpPr>
          <p:cNvPr id="33" name="text-98"/>
          <p:cNvSpPr txBox="1"/>
          <p:nvPr/>
        </p:nvSpPr>
        <p:spPr>
          <a:xfrm>
            <a:off x="9418320" y="3154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確定日を検出。Meet発行と確定メール作成</a:t>
            </a:r>
            <a:endParaRPr lang="en-US" sz="1400" dirty="0"/>
          </a:p>
        </p:txBody>
      </p:sp>
      <p:sp>
        <p:nvSpPr>
          <p:cNvPr id="34" name="card-99"/>
          <p:cNvSpPr/>
          <p:nvPr/>
        </p:nvSpPr>
        <p:spPr>
          <a:xfrm>
            <a:off x="548640" y="493776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DF1DC"/>
          </a:solidFill>
          <a:ln/>
        </p:spPr>
      </p:sp>
      <p:sp>
        <p:nvSpPr>
          <p:cNvPr id="35" name="chip-100"/>
          <p:cNvSpPr/>
          <p:nvPr/>
        </p:nvSpPr>
        <p:spPr>
          <a:xfrm>
            <a:off x="777240" y="5074920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6" name="text-101"/>
          <p:cNvSpPr txBox="1"/>
          <p:nvPr/>
        </p:nvSpPr>
        <p:spPr>
          <a:xfrm>
            <a:off x="777240" y="50749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調整中</a:t>
            </a:r>
            <a:endParaRPr lang="en-US" sz="1200" dirty="0"/>
          </a:p>
        </p:txBody>
      </p:sp>
      <p:sp>
        <p:nvSpPr>
          <p:cNvPr id="37" name="text-102"/>
          <p:cNvSpPr txBox="1"/>
          <p:nvPr/>
        </p:nvSpPr>
        <p:spPr>
          <a:xfrm>
            <a:off x="777240" y="5486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件名・カレンダーに【調整中】が付きます。返信待ちの状態です</a:t>
            </a:r>
            <a:endParaRPr lang="en-US" sz="1300" dirty="0"/>
          </a:p>
        </p:txBody>
      </p:sp>
      <p:sp>
        <p:nvSpPr>
          <p:cNvPr id="38" name="card-103"/>
          <p:cNvSpPr/>
          <p:nvPr/>
        </p:nvSpPr>
        <p:spPr>
          <a:xfrm>
            <a:off x="6263640" y="493776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E3F4EA"/>
          </a:solidFill>
          <a:ln/>
        </p:spPr>
      </p:sp>
      <p:sp>
        <p:nvSpPr>
          <p:cNvPr id="39" name="chip-104"/>
          <p:cNvSpPr/>
          <p:nvPr/>
        </p:nvSpPr>
        <p:spPr>
          <a:xfrm>
            <a:off x="6492240" y="5074920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0" name="text-105"/>
          <p:cNvSpPr txBox="1"/>
          <p:nvPr/>
        </p:nvSpPr>
        <p:spPr>
          <a:xfrm>
            <a:off x="6492240" y="50749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確定</a:t>
            </a:r>
            <a:endParaRPr lang="en-US" sz="1200" dirty="0"/>
          </a:p>
        </p:txBody>
      </p:sp>
      <p:sp>
        <p:nvSpPr>
          <p:cNvPr id="41" name="text-106"/>
          <p:cNvSpPr txBox="1"/>
          <p:nvPr/>
        </p:nvSpPr>
        <p:spPr>
          <a:xfrm>
            <a:off x="6492240" y="5486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件名・カレンダーが【確定】に。他の候補の仮押さえは自動で削除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-107"/>
          <p:cNvSpPr/>
          <p:nvPr/>
        </p:nvSpPr>
        <p:spPr>
          <a:xfrm>
            <a:off x="822960" y="269748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-10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979115"/>
            <a:ext cx="716890" cy="716890"/>
          </a:xfrm>
          <a:prstGeom prst="rect">
            <a:avLst/>
          </a:prstGeom>
        </p:spPr>
      </p:pic>
      <p:sp>
        <p:nvSpPr>
          <p:cNvPr id="4" name="text-109"/>
          <p:cNvSpPr txBox="1"/>
          <p:nvPr/>
        </p:nvSpPr>
        <p:spPr>
          <a:xfrm>
            <a:off x="23774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PART 1</a:t>
            </a:r>
            <a:endParaRPr lang="en-US" sz="16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377440" y="26517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導入と初期設定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2377440" y="361188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管理者による展開と、各自の初回セットアップ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社員への展開手順（管理者向け）</a:t>
            </a:r>
            <a:endParaRPr lang="en-US" sz="3200" dirty="0"/>
          </a:p>
        </p:txBody>
      </p:sp>
      <p:sp>
        <p:nvSpPr>
          <p:cNvPr id="3" name="num-bg-110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-111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icon-bg-112"/>
          <p:cNvSpPr/>
          <p:nvPr/>
        </p:nvSpPr>
        <p:spPr>
          <a:xfrm>
            <a:off x="1188720" y="14630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11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9771" y="1644091"/>
            <a:ext cx="460858" cy="460858"/>
          </a:xfrm>
          <a:prstGeom prst="rect">
            <a:avLst/>
          </a:prstGeom>
        </p:spPr>
      </p:pic>
      <p:sp>
        <p:nvSpPr>
          <p:cNvPr id="7" name="text-114"/>
          <p:cNvSpPr txBox="1"/>
          <p:nvPr/>
        </p:nvSpPr>
        <p:spPr>
          <a:xfrm>
            <a:off x="2240280" y="1463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社内限定で公開</a:t>
            </a:r>
            <a:endParaRPr lang="en-US" sz="1800" dirty="0"/>
          </a:p>
        </p:txBody>
      </p:sp>
      <p:sp>
        <p:nvSpPr>
          <p:cNvPr id="8" name="text-115"/>
          <p:cNvSpPr txBox="1"/>
          <p:nvPr/>
        </p:nvSpPr>
        <p:spPr>
          <a:xfrm>
            <a:off x="2240280" y="1920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Apps Scriptで「新しいデプロイ」を作成し、Google Workspace Marketplace SDK で公開範囲を「社内限定（非公開）」にして登録</a:t>
            </a:r>
            <a:endParaRPr lang="en-US" sz="1400" dirty="0"/>
          </a:p>
        </p:txBody>
      </p:sp>
      <p:sp>
        <p:nvSpPr>
          <p:cNvPr id="9" name="num-bg-116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-117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icon-bg-118"/>
          <p:cNvSpPr/>
          <p:nvPr/>
        </p:nvSpPr>
        <p:spPr>
          <a:xfrm>
            <a:off x="1188720" y="2926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11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771" y="3107131"/>
            <a:ext cx="460858" cy="460858"/>
          </a:xfrm>
          <a:prstGeom prst="rect">
            <a:avLst/>
          </a:prstGeom>
        </p:spPr>
      </p:pic>
      <p:sp>
        <p:nvSpPr>
          <p:cNvPr id="13" name="text-120"/>
          <p:cNvSpPr txBox="1"/>
          <p:nvPr/>
        </p:nvSpPr>
        <p:spPr>
          <a:xfrm>
            <a:off x="2240280" y="2926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対象者へ一括インストール</a:t>
            </a:r>
            <a:endParaRPr lang="en-US" sz="1800" dirty="0"/>
          </a:p>
        </p:txBody>
      </p:sp>
      <p:sp>
        <p:nvSpPr>
          <p:cNvPr id="14" name="text-121"/>
          <p:cNvSpPr txBox="1"/>
          <p:nvPr/>
        </p:nvSpPr>
        <p:spPr>
          <a:xfrm>
            <a:off x="2240280" y="33832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管理コンソール →「アプリ」→「Google Workspace Marketplace アプリ」から、対象の組織部門・グループを指定してインストール</a:t>
            </a:r>
            <a:endParaRPr lang="en-US" sz="1400" dirty="0"/>
          </a:p>
        </p:txBody>
      </p:sp>
      <p:sp>
        <p:nvSpPr>
          <p:cNvPr id="15" name="num-bg-122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-123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icon-bg-124"/>
          <p:cNvSpPr/>
          <p:nvPr/>
        </p:nvSpPr>
        <p:spPr>
          <a:xfrm>
            <a:off x="1188720" y="4389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12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771" y="4570171"/>
            <a:ext cx="460858" cy="460858"/>
          </a:xfrm>
          <a:prstGeom prst="rect">
            <a:avLst/>
          </a:prstGeom>
        </p:spPr>
      </p:pic>
      <p:sp>
        <p:nvSpPr>
          <p:cNvPr id="19" name="text-126"/>
          <p:cNvSpPr txBox="1"/>
          <p:nvPr/>
        </p:nvSpPr>
        <p:spPr>
          <a:xfrm>
            <a:off x="2240280" y="4389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カレンダー共有設定の確認</a:t>
            </a:r>
            <a:endParaRPr lang="en-US" sz="1800" dirty="0"/>
          </a:p>
        </p:txBody>
      </p:sp>
      <p:sp>
        <p:nvSpPr>
          <p:cNvPr id="20" name="text-127"/>
          <p:cNvSpPr txBox="1"/>
          <p:nvPr/>
        </p:nvSpPr>
        <p:spPr>
          <a:xfrm>
            <a:off x="2240280" y="48463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管理コンソール →「アプリ」→「カレンダー」の共有設定で、社内に「空き時間情報」以上を共有できることを確認</a:t>
            </a:r>
            <a:endParaRPr lang="en-US" sz="1400" dirty="0"/>
          </a:p>
        </p:txBody>
      </p:sp>
      <p:sp>
        <p:nvSpPr>
          <p:cNvPr id="21" name="card-128"/>
          <p:cNvSpPr/>
          <p:nvPr/>
        </p:nvSpPr>
        <p:spPr>
          <a:xfrm>
            <a:off x="7772400" y="1463040"/>
            <a:ext cx="3886200" cy="448056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/>
        </p:spPr>
      </p:sp>
      <p:sp>
        <p:nvSpPr>
          <p:cNvPr id="22" name="text-129"/>
          <p:cNvSpPr txBox="1"/>
          <p:nvPr/>
        </p:nvSpPr>
        <p:spPr>
          <a:xfrm>
            <a:off x="804672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ビデオ会議の対応状況</a:t>
            </a:r>
            <a:endParaRPr lang="en-US" sz="1800" dirty="0"/>
          </a:p>
        </p:txBody>
      </p:sp>
      <p:sp>
        <p:nvSpPr>
          <p:cNvPr id="23" name="text-130"/>
          <p:cNvSpPr txBox="1"/>
          <p:nvPr/>
        </p:nvSpPr>
        <p:spPr>
          <a:xfrm>
            <a:off x="8046720" y="22860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Google Meet</a:t>
            </a:r>
            <a:endParaRPr lang="en-US" sz="1400" dirty="0"/>
          </a:p>
        </p:txBody>
      </p:sp>
      <p:sp>
        <p:nvSpPr>
          <p:cNvPr id="24" name="chip-131"/>
          <p:cNvSpPr/>
          <p:nvPr/>
        </p:nvSpPr>
        <p:spPr>
          <a:xfrm>
            <a:off x="10241280" y="2286000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5" name="text-132"/>
          <p:cNvSpPr txBox="1"/>
          <p:nvPr/>
        </p:nvSpPr>
        <p:spPr>
          <a:xfrm>
            <a:off x="10241280" y="22860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利用可能</a:t>
            </a:r>
            <a:endParaRPr lang="en-US" sz="1100" dirty="0"/>
          </a:p>
        </p:txBody>
      </p:sp>
      <p:sp>
        <p:nvSpPr>
          <p:cNvPr id="26" name="text-133"/>
          <p:cNvSpPr txBox="1"/>
          <p:nvPr/>
        </p:nvSpPr>
        <p:spPr>
          <a:xfrm>
            <a:off x="8046720" y="28346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Zoom</a:t>
            </a:r>
            <a:endParaRPr lang="en-US" sz="1400" dirty="0"/>
          </a:p>
        </p:txBody>
      </p:sp>
      <p:sp>
        <p:nvSpPr>
          <p:cNvPr id="27" name="chip-134"/>
          <p:cNvSpPr/>
          <p:nvPr/>
        </p:nvSpPr>
        <p:spPr>
          <a:xfrm>
            <a:off x="10241280" y="2834640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8" name="text-135"/>
          <p:cNvSpPr txBox="1"/>
          <p:nvPr/>
        </p:nvSpPr>
        <p:spPr>
          <a:xfrm>
            <a:off x="10241280" y="28346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未設定</a:t>
            </a:r>
            <a:endParaRPr lang="en-US" sz="1100" dirty="0"/>
          </a:p>
        </p:txBody>
      </p:sp>
      <p:sp>
        <p:nvSpPr>
          <p:cNvPr id="29" name="text-136"/>
          <p:cNvSpPr txBox="1"/>
          <p:nvPr/>
        </p:nvSpPr>
        <p:spPr>
          <a:xfrm>
            <a:off x="8046720" y="33832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Microsoft Teams</a:t>
            </a:r>
            <a:endParaRPr lang="en-US" sz="1400" dirty="0"/>
          </a:p>
        </p:txBody>
      </p:sp>
      <p:sp>
        <p:nvSpPr>
          <p:cNvPr id="30" name="chip-137"/>
          <p:cNvSpPr/>
          <p:nvPr/>
        </p:nvSpPr>
        <p:spPr>
          <a:xfrm>
            <a:off x="10241280" y="3383280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1" name="text-138"/>
          <p:cNvSpPr txBox="1"/>
          <p:nvPr/>
        </p:nvSpPr>
        <p:spPr>
          <a:xfrm>
            <a:off x="10241280" y="338328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未設定</a:t>
            </a:r>
            <a:endParaRPr lang="en-US" sz="1100" dirty="0"/>
          </a:p>
        </p:txBody>
      </p:sp>
      <p:sp>
        <p:nvSpPr>
          <p:cNvPr id="32" name="text-139"/>
          <p:cNvSpPr txBox="1"/>
          <p:nvPr/>
        </p:nvSpPr>
        <p:spPr>
          <a:xfrm>
            <a:off x="8046720" y="39319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その他（URL手入力）</a:t>
            </a:r>
            <a:endParaRPr lang="en-US" sz="1400" dirty="0"/>
          </a:p>
        </p:txBody>
      </p:sp>
      <p:sp>
        <p:nvSpPr>
          <p:cNvPr id="33" name="chip-140"/>
          <p:cNvSpPr/>
          <p:nvPr/>
        </p:nvSpPr>
        <p:spPr>
          <a:xfrm>
            <a:off x="10241280" y="3931920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4" name="text-141"/>
          <p:cNvSpPr txBox="1"/>
          <p:nvPr/>
        </p:nvSpPr>
        <p:spPr>
          <a:xfrm>
            <a:off x="10241280" y="393192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利用可能</a:t>
            </a:r>
            <a:endParaRPr lang="en-US" sz="1100" dirty="0"/>
          </a:p>
        </p:txBody>
      </p:sp>
      <p:sp>
        <p:nvSpPr>
          <p:cNvPr id="35" name="text-142"/>
          <p:cNvSpPr txBox="1"/>
          <p:nvPr/>
        </p:nvSpPr>
        <p:spPr>
          <a:xfrm>
            <a:off x="8046720" y="45262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Zoom・Teamsは管理者がAPI連携を設定すると選べるようになります。それまでは、先方指定の会議URLを「その他（URL手入力）」で入力してください。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展開スケジュール（案）</a:t>
            </a:r>
            <a:endParaRPr lang="en-US" sz="3200" dirty="0"/>
          </a:p>
        </p:txBody>
      </p:sp>
      <p:sp>
        <p:nvSpPr>
          <p:cNvPr id="3" name="timeline-143"/>
          <p:cNvSpPr/>
          <p:nvPr/>
        </p:nvSpPr>
        <p:spPr>
          <a:xfrm>
            <a:off x="822960" y="2148840"/>
            <a:ext cx="10515600" cy="0"/>
          </a:xfrm>
          <a:prstGeom prst="line">
            <a:avLst/>
          </a:prstGeom>
          <a:noFill/>
          <a:ln w="38100">
            <a:solidFill>
              <a:srgbClr val="8FD3C7"/>
            </a:solidFill>
            <a:prstDash val="solid"/>
          </a:ln>
        </p:spPr>
      </p:sp>
      <p:sp>
        <p:nvSpPr>
          <p:cNvPr id="4" name="milestone-144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-145"/>
          <p:cNvSpPr txBox="1"/>
          <p:nvPr/>
        </p:nvSpPr>
        <p:spPr>
          <a:xfrm>
            <a:off x="54864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1週目</a:t>
            </a:r>
            <a:endParaRPr lang="en-US" sz="1600" dirty="0"/>
          </a:p>
        </p:txBody>
      </p:sp>
      <p:sp>
        <p:nvSpPr>
          <p:cNvPr id="6" name="card-146"/>
          <p:cNvSpPr/>
          <p:nvPr/>
        </p:nvSpPr>
        <p:spPr>
          <a:xfrm>
            <a:off x="548640" y="269748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text-147"/>
          <p:cNvSpPr txBox="1"/>
          <p:nvPr/>
        </p:nvSpPr>
        <p:spPr>
          <a:xfrm>
            <a:off x="77724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パイロット運用</a:t>
            </a:r>
            <a:endParaRPr lang="en-US" sz="1800" dirty="0"/>
          </a:p>
        </p:txBody>
      </p:sp>
      <p:sp>
        <p:nvSpPr>
          <p:cNvPr id="8" name="text-148"/>
          <p:cNvSpPr txBox="1"/>
          <p:nvPr/>
        </p:nvSpPr>
        <p:spPr>
          <a:xfrm>
            <a:off x="777240" y="37033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調達部門の数名で実案件に使い、抽出精度や文面のフィードバックを収集</a:t>
            </a:r>
            <a:endParaRPr lang="en-US" sz="1400" dirty="0"/>
          </a:p>
        </p:txBody>
      </p:sp>
      <p:sp>
        <p:nvSpPr>
          <p:cNvPr id="9" name="milestone-149"/>
          <p:cNvSpPr/>
          <p:nvPr/>
        </p:nvSpPr>
        <p:spPr>
          <a:xfrm>
            <a:off x="3520440" y="1920240"/>
            <a:ext cx="457200" cy="4572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-150"/>
          <p:cNvSpPr txBox="1"/>
          <p:nvPr/>
        </p:nvSpPr>
        <p:spPr>
          <a:xfrm>
            <a:off x="338328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2週目</a:t>
            </a:r>
            <a:endParaRPr lang="en-US" sz="1600" dirty="0"/>
          </a:p>
        </p:txBody>
      </p:sp>
      <p:sp>
        <p:nvSpPr>
          <p:cNvPr id="11" name="card-151"/>
          <p:cNvSpPr/>
          <p:nvPr/>
        </p:nvSpPr>
        <p:spPr>
          <a:xfrm>
            <a:off x="3383280" y="269748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2" name="text-152"/>
          <p:cNvSpPr txBox="1"/>
          <p:nvPr/>
        </p:nvSpPr>
        <p:spPr>
          <a:xfrm>
            <a:off x="361188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改善・準備</a:t>
            </a:r>
            <a:endParaRPr lang="en-US" sz="1800" dirty="0"/>
          </a:p>
        </p:txBody>
      </p:sp>
      <p:sp>
        <p:nvSpPr>
          <p:cNvPr id="13" name="text-153"/>
          <p:cNvSpPr txBox="1"/>
          <p:nvPr/>
        </p:nvSpPr>
        <p:spPr>
          <a:xfrm>
            <a:off x="3611880" y="37033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文面・件名ルールを調整し、マニュアルとFAQを更新。インストール対象を決定</a:t>
            </a:r>
            <a:endParaRPr lang="en-US" sz="1400" dirty="0"/>
          </a:p>
        </p:txBody>
      </p:sp>
      <p:sp>
        <p:nvSpPr>
          <p:cNvPr id="14" name="milestone-154"/>
          <p:cNvSpPr/>
          <p:nvPr/>
        </p:nvSpPr>
        <p:spPr>
          <a:xfrm>
            <a:off x="6355080" y="1920240"/>
            <a:ext cx="457200" cy="45720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-155"/>
          <p:cNvSpPr txBox="1"/>
          <p:nvPr/>
        </p:nvSpPr>
        <p:spPr>
          <a:xfrm>
            <a:off x="62179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3週目</a:t>
            </a:r>
            <a:endParaRPr lang="en-US" sz="1600" dirty="0"/>
          </a:p>
        </p:txBody>
      </p:sp>
      <p:sp>
        <p:nvSpPr>
          <p:cNvPr id="16" name="card-156"/>
          <p:cNvSpPr/>
          <p:nvPr/>
        </p:nvSpPr>
        <p:spPr>
          <a:xfrm>
            <a:off x="6217920" y="269748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7" name="text-157"/>
          <p:cNvSpPr txBox="1"/>
          <p:nvPr/>
        </p:nvSpPr>
        <p:spPr>
          <a:xfrm>
            <a:off x="644652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説明会＋一括インストール</a:t>
            </a:r>
            <a:endParaRPr lang="en-US" sz="1800" dirty="0"/>
          </a:p>
        </p:txBody>
      </p:sp>
      <p:sp>
        <p:nvSpPr>
          <p:cNvPr id="18" name="text-158"/>
          <p:cNvSpPr txBox="1"/>
          <p:nvPr/>
        </p:nvSpPr>
        <p:spPr>
          <a:xfrm>
            <a:off x="6446520" y="37033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30分の説明会（本資料）を実施し、対象者へ管理コンソールから配布</a:t>
            </a:r>
            <a:endParaRPr lang="en-US" sz="1400" dirty="0"/>
          </a:p>
        </p:txBody>
      </p:sp>
      <p:sp>
        <p:nvSpPr>
          <p:cNvPr id="19" name="milestone-159"/>
          <p:cNvSpPr/>
          <p:nvPr/>
        </p:nvSpPr>
        <p:spPr>
          <a:xfrm>
            <a:off x="9189720" y="1920240"/>
            <a:ext cx="457200" cy="4572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-160"/>
          <p:cNvSpPr txBox="1"/>
          <p:nvPr/>
        </p:nvSpPr>
        <p:spPr>
          <a:xfrm>
            <a:off x="905256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4週目〜</a:t>
            </a:r>
            <a:endParaRPr lang="en-US" sz="1600" dirty="0"/>
          </a:p>
        </p:txBody>
      </p:sp>
      <p:sp>
        <p:nvSpPr>
          <p:cNvPr id="21" name="card-161"/>
          <p:cNvSpPr/>
          <p:nvPr/>
        </p:nvSpPr>
        <p:spPr>
          <a:xfrm>
            <a:off x="9052560" y="269748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2" name="text-162"/>
          <p:cNvSpPr txBox="1"/>
          <p:nvPr/>
        </p:nvSpPr>
        <p:spPr>
          <a:xfrm>
            <a:off x="928116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全社運用</a:t>
            </a:r>
            <a:endParaRPr lang="en-US" sz="1800" dirty="0"/>
          </a:p>
        </p:txBody>
      </p:sp>
      <p:sp>
        <p:nvSpPr>
          <p:cNvPr id="23" name="text-163"/>
          <p:cNvSpPr txBox="1"/>
          <p:nvPr/>
        </p:nvSpPr>
        <p:spPr>
          <a:xfrm>
            <a:off x="9281160" y="37033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問い合わせ窓口で質問を受け付け、Zoom・Teams連携の要否を検討</a:t>
            </a:r>
            <a:endParaRPr lang="en-US" sz="1400" dirty="0"/>
          </a:p>
        </p:txBody>
      </p:sp>
      <p:sp>
        <p:nvSpPr>
          <p:cNvPr id="24" name="text-164"/>
          <p:cNvSpPr txBox="1"/>
          <p:nvPr/>
        </p:nvSpPr>
        <p:spPr>
          <a:xfrm>
            <a:off x="548640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※ 期間・対象部門は目安です。運用状況に合わせて調整してください。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初回セットアップ（各自・約5分）</a:t>
            </a:r>
            <a:endParaRPr lang="en-US" sz="3200" dirty="0"/>
          </a:p>
        </p:txBody>
      </p:sp>
      <p:sp>
        <p:nvSpPr>
          <p:cNvPr id="3" name="num-bg-165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-166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-167"/>
          <p:cNvSpPr txBox="1"/>
          <p:nvPr/>
        </p:nvSpPr>
        <p:spPr>
          <a:xfrm>
            <a:off x="1280160" y="14630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Gmailを開き、右側のパネルにある日程調整アシスタントのアイコンをクリック</a:t>
            </a:r>
            <a:endParaRPr lang="en-US" sz="1600" dirty="0"/>
          </a:p>
        </p:txBody>
      </p:sp>
      <p:sp>
        <p:nvSpPr>
          <p:cNvPr id="6" name="num-bg-168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-169"/>
          <p:cNvSpPr txBox="1"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-170"/>
          <p:cNvSpPr txBox="1"/>
          <p:nvPr/>
        </p:nvSpPr>
        <p:spPr>
          <a:xfrm>
            <a:off x="1280160" y="25146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初回のみ「アクセスを承認」を押し、自分のGoogleアカウントで許可</a:t>
            </a:r>
            <a:endParaRPr lang="en-US" sz="1600" dirty="0"/>
          </a:p>
        </p:txBody>
      </p:sp>
      <p:sp>
        <p:nvSpPr>
          <p:cNvPr id="9" name="num-bg-171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-172"/>
          <p:cNvSpPr txBox="1"/>
          <p:nvPr/>
        </p:nvSpPr>
        <p:spPr>
          <a:xfrm>
            <a:off x="5486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-173"/>
          <p:cNvSpPr txBox="1"/>
          <p:nvPr/>
        </p:nvSpPr>
        <p:spPr>
          <a:xfrm>
            <a:off x="1280160" y="35661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サイドバー右上の「︙」メニューから「設定」を開く</a:t>
            </a:r>
            <a:endParaRPr lang="en-US" sz="1600" dirty="0"/>
          </a:p>
        </p:txBody>
      </p:sp>
      <p:sp>
        <p:nvSpPr>
          <p:cNvPr id="12" name="num-bg-174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-175"/>
          <p:cNvSpPr txBox="1"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-176"/>
          <p:cNvSpPr txBox="1"/>
          <p:nvPr/>
        </p:nvSpPr>
        <p:spPr>
          <a:xfrm>
            <a:off x="1280160" y="46177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自社名・氏名・署名と、よく使う社内メンバーを登録して「保存」</a:t>
            </a:r>
            <a:endParaRPr lang="en-US" sz="1600" dirty="0"/>
          </a:p>
        </p:txBody>
      </p:sp>
      <p:sp>
        <p:nvSpPr>
          <p:cNvPr id="15" name="text-177"/>
          <p:cNvSpPr txBox="1"/>
          <p:nvPr/>
        </p:nvSpPr>
        <p:spPr>
          <a:xfrm>
            <a:off x="1280160" y="5623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メンバーは1行に1人「山田 花子 &lt;yamada@example.co.jp&gt;」の形式で入力します。</a:t>
            </a:r>
            <a:endParaRPr lang="en-US" sz="1200" dirty="0"/>
          </a:p>
        </p:txBody>
      </p:sp>
      <p:sp>
        <p:nvSpPr>
          <p:cNvPr id="16" name="mock-frame-178"/>
          <p:cNvSpPr/>
          <p:nvPr/>
        </p:nvSpPr>
        <p:spPr>
          <a:xfrm>
            <a:off x="7680960" y="1371600"/>
            <a:ext cx="3977640" cy="388620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12700">
            <a:solidFill>
              <a:srgbClr val="C9D3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mock-logo-17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517904"/>
            <a:ext cx="292608" cy="292608"/>
          </a:xfrm>
          <a:prstGeom prst="rect">
            <a:avLst/>
          </a:prstGeom>
        </p:spPr>
      </p:pic>
      <p:sp>
        <p:nvSpPr>
          <p:cNvPr id="18" name="text-180"/>
          <p:cNvSpPr txBox="1"/>
          <p:nvPr/>
        </p:nvSpPr>
        <p:spPr>
          <a:xfrm>
            <a:off x="8229600" y="148132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日程調整アシスタント</a:t>
            </a:r>
            <a:endParaRPr lang="en-US" sz="1200" dirty="0"/>
          </a:p>
        </p:txBody>
      </p:sp>
      <p:sp>
        <p:nvSpPr>
          <p:cNvPr id="19" name="text-181"/>
          <p:cNvSpPr txBox="1"/>
          <p:nvPr/>
        </p:nvSpPr>
        <p:spPr>
          <a:xfrm>
            <a:off x="8229600" y="171907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設定</a:t>
            </a:r>
            <a:endParaRPr lang="en-US" sz="1000" dirty="0"/>
          </a:p>
        </p:txBody>
      </p:sp>
      <p:sp>
        <p:nvSpPr>
          <p:cNvPr id="20" name="text-182"/>
          <p:cNvSpPr txBox="1"/>
          <p:nvPr/>
        </p:nvSpPr>
        <p:spPr>
          <a:xfrm>
            <a:off x="7909560" y="21122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差出人情報（メール本文に使用）</a:t>
            </a:r>
            <a:endParaRPr lang="en-US" sz="1100" dirty="0"/>
          </a:p>
        </p:txBody>
      </p:sp>
      <p:sp>
        <p:nvSpPr>
          <p:cNvPr id="21" name="mock-input-183"/>
          <p:cNvSpPr/>
          <p:nvPr/>
        </p:nvSpPr>
        <p:spPr>
          <a:xfrm>
            <a:off x="7909560" y="2423160"/>
            <a:ext cx="3520440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B7C2C6"/>
            </a:solidFill>
            <a:prstDash val="solid"/>
          </a:ln>
        </p:spPr>
      </p:sp>
      <p:sp>
        <p:nvSpPr>
          <p:cNvPr id="22" name="text-184"/>
          <p:cNvSpPr txBox="1"/>
          <p:nvPr/>
        </p:nvSpPr>
        <p:spPr>
          <a:xfrm>
            <a:off x="8001000" y="24231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自社名　株式会社〇〇</a:t>
            </a:r>
            <a:endParaRPr lang="en-US" sz="1000" dirty="0"/>
          </a:p>
        </p:txBody>
      </p:sp>
      <p:sp>
        <p:nvSpPr>
          <p:cNvPr id="23" name="mock-input-185"/>
          <p:cNvSpPr/>
          <p:nvPr/>
        </p:nvSpPr>
        <p:spPr>
          <a:xfrm>
            <a:off x="7909560" y="2752344"/>
            <a:ext cx="3520440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B7C2C6"/>
            </a:solidFill>
            <a:prstDash val="solid"/>
          </a:ln>
        </p:spPr>
      </p:sp>
      <p:sp>
        <p:nvSpPr>
          <p:cNvPr id="24" name="text-186"/>
          <p:cNvSpPr txBox="1"/>
          <p:nvPr/>
        </p:nvSpPr>
        <p:spPr>
          <a:xfrm>
            <a:off x="8001000" y="27523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氏名　大谷 雅彦</a:t>
            </a:r>
            <a:endParaRPr lang="en-US" sz="1000" dirty="0"/>
          </a:p>
        </p:txBody>
      </p:sp>
      <p:sp>
        <p:nvSpPr>
          <p:cNvPr id="25" name="mock-input-187"/>
          <p:cNvSpPr/>
          <p:nvPr/>
        </p:nvSpPr>
        <p:spPr>
          <a:xfrm>
            <a:off x="7909560" y="3081528"/>
            <a:ext cx="3520440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B7C2C6"/>
            </a:solidFill>
            <a:prstDash val="solid"/>
          </a:ln>
        </p:spPr>
      </p:sp>
      <p:sp>
        <p:nvSpPr>
          <p:cNvPr id="26" name="text-188"/>
          <p:cNvSpPr txBox="1"/>
          <p:nvPr/>
        </p:nvSpPr>
        <p:spPr>
          <a:xfrm>
            <a:off x="8001000" y="30815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署名　（空欄なら自社名と氏名）</a:t>
            </a:r>
            <a:endParaRPr lang="en-US" sz="1000" dirty="0"/>
          </a:p>
        </p:txBody>
      </p:sp>
      <p:sp>
        <p:nvSpPr>
          <p:cNvPr id="27" name="text-189"/>
          <p:cNvSpPr txBox="1"/>
          <p:nvPr/>
        </p:nvSpPr>
        <p:spPr>
          <a:xfrm>
            <a:off x="7909560" y="3429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社内メンバー</a:t>
            </a:r>
            <a:endParaRPr lang="en-US" sz="1100" dirty="0"/>
          </a:p>
        </p:txBody>
      </p:sp>
      <p:sp>
        <p:nvSpPr>
          <p:cNvPr id="28" name="mock-input-190"/>
          <p:cNvSpPr/>
          <p:nvPr/>
        </p:nvSpPr>
        <p:spPr>
          <a:xfrm>
            <a:off x="7909560" y="3739896"/>
            <a:ext cx="3520440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B7C2C6"/>
            </a:solidFill>
            <a:prstDash val="solid"/>
          </a:ln>
        </p:spPr>
      </p:sp>
      <p:sp>
        <p:nvSpPr>
          <p:cNvPr id="29" name="text-191"/>
          <p:cNvSpPr txBox="1"/>
          <p:nvPr/>
        </p:nvSpPr>
        <p:spPr>
          <a:xfrm>
            <a:off x="8001000" y="373989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山田 花子 &lt;yamada@…&gt;</a:t>
            </a:r>
            <a:endParaRPr lang="en-US" sz="1000" dirty="0"/>
          </a:p>
        </p:txBody>
      </p:sp>
      <p:sp>
        <p:nvSpPr>
          <p:cNvPr id="30" name="mock-input-192"/>
          <p:cNvSpPr/>
          <p:nvPr/>
        </p:nvSpPr>
        <p:spPr>
          <a:xfrm>
            <a:off x="7909560" y="4069080"/>
            <a:ext cx="3520440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B7C2C6"/>
            </a:solidFill>
            <a:prstDash val="solid"/>
          </a:ln>
        </p:spPr>
      </p:sp>
      <p:sp>
        <p:nvSpPr>
          <p:cNvPr id="31" name="text-193"/>
          <p:cNvSpPr txBox="1"/>
          <p:nvPr/>
        </p:nvSpPr>
        <p:spPr>
          <a:xfrm>
            <a:off x="8001000" y="40690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佐藤 健 &lt;sato@…&gt;</a:t>
            </a:r>
            <a:endParaRPr lang="en-US" sz="1000" dirty="0"/>
          </a:p>
        </p:txBody>
      </p:sp>
      <p:sp>
        <p:nvSpPr>
          <p:cNvPr id="32" name="mock-check-194"/>
          <p:cNvSpPr/>
          <p:nvPr/>
        </p:nvSpPr>
        <p:spPr>
          <a:xfrm>
            <a:off x="7909560" y="4434840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3" name="text-195"/>
          <p:cNvSpPr txBox="1"/>
          <p:nvPr/>
        </p:nvSpPr>
        <p:spPr>
          <a:xfrm>
            <a:off x="7909560" y="441655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✓</a:t>
            </a:r>
            <a:endParaRPr lang="en-US" sz="1000" dirty="0"/>
          </a:p>
        </p:txBody>
      </p:sp>
      <p:sp>
        <p:nvSpPr>
          <p:cNvPr id="34" name="text-196"/>
          <p:cNvSpPr txBox="1"/>
          <p:nvPr/>
        </p:nvSpPr>
        <p:spPr>
          <a:xfrm>
            <a:off x="8202168" y="4416552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候補をカレンダーに仮押さえする</a:t>
            </a:r>
            <a:endParaRPr lang="en-US" sz="1100" dirty="0"/>
          </a:p>
        </p:txBody>
      </p:sp>
      <p:sp>
        <p:nvSpPr>
          <p:cNvPr id="35" name="mock-button-197"/>
          <p:cNvSpPr/>
          <p:nvPr/>
        </p:nvSpPr>
        <p:spPr>
          <a:xfrm>
            <a:off x="7909560" y="4727448"/>
            <a:ext cx="352044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36" name="text-198"/>
          <p:cNvSpPr txBox="1"/>
          <p:nvPr/>
        </p:nvSpPr>
        <p:spPr>
          <a:xfrm>
            <a:off x="7909560" y="4727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保存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初回に許可する権限と、その理由</a:t>
            </a:r>
            <a:endParaRPr lang="en-US" sz="3200" dirty="0"/>
          </a:p>
        </p:txBody>
      </p:sp>
      <p:sp>
        <p:nvSpPr>
          <p:cNvPr id="3" name="card-199"/>
          <p:cNvSpPr/>
          <p:nvPr/>
        </p:nvSpPr>
        <p:spPr>
          <a:xfrm>
            <a:off x="548640" y="1463040"/>
            <a:ext cx="11109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4" name="icon-bg-200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20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776679"/>
            <a:ext cx="332842" cy="332842"/>
          </a:xfrm>
          <a:prstGeom prst="rect">
            <a:avLst/>
          </a:prstGeom>
        </p:spPr>
      </p:pic>
      <p:sp>
        <p:nvSpPr>
          <p:cNvPr id="6" name="text-202"/>
          <p:cNvSpPr txBox="1"/>
          <p:nvPr/>
        </p:nvSpPr>
        <p:spPr>
          <a:xfrm>
            <a:off x="1600200" y="14630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Gmail</a:t>
            </a:r>
            <a:endParaRPr lang="en-US" sz="1800" dirty="0"/>
          </a:p>
        </p:txBody>
      </p:sp>
      <p:sp>
        <p:nvSpPr>
          <p:cNvPr id="7" name="text-203"/>
          <p:cNvSpPr txBox="1"/>
          <p:nvPr/>
        </p:nvSpPr>
        <p:spPr>
          <a:xfrm>
            <a:off x="4023360" y="14630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メールの読み取り・下書きの作成</a:t>
            </a:r>
            <a:endParaRPr lang="en-US" sz="1500" dirty="0"/>
          </a:p>
        </p:txBody>
      </p:sp>
      <p:sp>
        <p:nvSpPr>
          <p:cNvPr id="8" name="text-204"/>
          <p:cNvSpPr txBox="1"/>
          <p:nvPr/>
        </p:nvSpPr>
        <p:spPr>
          <a:xfrm>
            <a:off x="7498080" y="146304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候補日を読み取り、打診・確定メールを下書きとして作るため</a:t>
            </a:r>
            <a:endParaRPr lang="en-US" sz="1400" dirty="0"/>
          </a:p>
        </p:txBody>
      </p:sp>
      <p:sp>
        <p:nvSpPr>
          <p:cNvPr id="9" name="card-205"/>
          <p:cNvSpPr/>
          <p:nvPr/>
        </p:nvSpPr>
        <p:spPr>
          <a:xfrm>
            <a:off x="548640" y="2606040"/>
            <a:ext cx="11109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0" name="icon-bg-206"/>
          <p:cNvSpPr/>
          <p:nvPr/>
        </p:nvSpPr>
        <p:spPr>
          <a:xfrm>
            <a:off x="777240" y="2788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20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" y="2919679"/>
            <a:ext cx="332842" cy="332842"/>
          </a:xfrm>
          <a:prstGeom prst="rect">
            <a:avLst/>
          </a:prstGeom>
        </p:spPr>
      </p:pic>
      <p:sp>
        <p:nvSpPr>
          <p:cNvPr id="12" name="text-208"/>
          <p:cNvSpPr txBox="1"/>
          <p:nvPr/>
        </p:nvSpPr>
        <p:spPr>
          <a:xfrm>
            <a:off x="1600200" y="26060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Googleカレンダー</a:t>
            </a:r>
            <a:endParaRPr lang="en-US" sz="1800" dirty="0"/>
          </a:p>
        </p:txBody>
      </p:sp>
      <p:sp>
        <p:nvSpPr>
          <p:cNvPr id="13" name="text-209"/>
          <p:cNvSpPr txBox="1"/>
          <p:nvPr/>
        </p:nvSpPr>
        <p:spPr>
          <a:xfrm>
            <a:off x="4023360" y="26060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空き時間の確認・予定の作成</a:t>
            </a:r>
            <a:endParaRPr lang="en-US" sz="1500" dirty="0"/>
          </a:p>
        </p:txBody>
      </p:sp>
      <p:sp>
        <p:nvSpPr>
          <p:cNvPr id="14" name="text-210"/>
          <p:cNvSpPr txBox="1"/>
          <p:nvPr/>
        </p:nvSpPr>
        <p:spPr>
          <a:xfrm>
            <a:off x="7498080" y="260604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参加者の空きを確認し、仮押さえ・確定予定を作るため</a:t>
            </a:r>
            <a:endParaRPr lang="en-US" sz="1400" dirty="0"/>
          </a:p>
        </p:txBody>
      </p:sp>
      <p:sp>
        <p:nvSpPr>
          <p:cNvPr id="15" name="card-211"/>
          <p:cNvSpPr/>
          <p:nvPr/>
        </p:nvSpPr>
        <p:spPr>
          <a:xfrm>
            <a:off x="548640" y="3749040"/>
            <a:ext cx="11109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6" name="icon-bg-212"/>
          <p:cNvSpPr/>
          <p:nvPr/>
        </p:nvSpPr>
        <p:spPr>
          <a:xfrm>
            <a:off x="777240" y="3931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2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062679"/>
            <a:ext cx="332842" cy="332842"/>
          </a:xfrm>
          <a:prstGeom prst="rect">
            <a:avLst/>
          </a:prstGeom>
        </p:spPr>
      </p:pic>
      <p:sp>
        <p:nvSpPr>
          <p:cNvPr id="18" name="text-214"/>
          <p:cNvSpPr txBox="1"/>
          <p:nvPr/>
        </p:nvSpPr>
        <p:spPr>
          <a:xfrm>
            <a:off x="1600200" y="37490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社内ディレクトリ</a:t>
            </a:r>
            <a:endParaRPr lang="en-US" sz="1800" dirty="0"/>
          </a:p>
        </p:txBody>
      </p:sp>
      <p:sp>
        <p:nvSpPr>
          <p:cNvPr id="19" name="text-215"/>
          <p:cNvSpPr txBox="1"/>
          <p:nvPr/>
        </p:nvSpPr>
        <p:spPr>
          <a:xfrm>
            <a:off x="4023360" y="37490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社員の名前・メールの検索</a:t>
            </a:r>
            <a:endParaRPr lang="en-US" sz="1500" dirty="0"/>
          </a:p>
        </p:txBody>
      </p:sp>
      <p:sp>
        <p:nvSpPr>
          <p:cNvPr id="20" name="text-216"/>
          <p:cNvSpPr txBox="1"/>
          <p:nvPr/>
        </p:nvSpPr>
        <p:spPr>
          <a:xfrm>
            <a:off x="7498080" y="374904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参加者を名前で検索して追加するため</a:t>
            </a:r>
            <a:endParaRPr lang="en-US" sz="1400" dirty="0"/>
          </a:p>
        </p:txBody>
      </p:sp>
      <p:sp>
        <p:nvSpPr>
          <p:cNvPr id="21" name="card-217"/>
          <p:cNvSpPr/>
          <p:nvPr/>
        </p:nvSpPr>
        <p:spPr>
          <a:xfrm>
            <a:off x="548640" y="502920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E3F4EA"/>
          </a:solidFill>
          <a:ln/>
        </p:spPr>
      </p:sp>
      <p:sp>
        <p:nvSpPr>
          <p:cNvPr id="22" name="icon-bg-218"/>
          <p:cNvSpPr/>
          <p:nvPr/>
        </p:nvSpPr>
        <p:spPr>
          <a:xfrm>
            <a:off x="777240" y="5230368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con-21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5361127"/>
            <a:ext cx="332842" cy="332842"/>
          </a:xfrm>
          <a:prstGeom prst="rect">
            <a:avLst/>
          </a:prstGeom>
        </p:spPr>
      </p:pic>
      <p:sp>
        <p:nvSpPr>
          <p:cNvPr id="24" name="text-220"/>
          <p:cNvSpPr txBox="1"/>
          <p:nvPr/>
        </p:nvSpPr>
        <p:spPr>
          <a:xfrm>
            <a:off x="1554480" y="50292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メールの自動送信はしません（下書き作成のみ）</a:t>
            </a:r>
            <a:endParaRPr lang="en-US" sz="1500" dirty="0"/>
          </a:p>
        </p:txBody>
      </p:sp>
      <p:sp>
        <p:nvSpPr>
          <p:cNvPr id="25" name="card-221"/>
          <p:cNvSpPr/>
          <p:nvPr/>
        </p:nvSpPr>
        <p:spPr>
          <a:xfrm>
            <a:off x="6263640" y="502920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E3F4EA"/>
          </a:solidFill>
          <a:ln/>
        </p:spPr>
      </p:sp>
      <p:sp>
        <p:nvSpPr>
          <p:cNvPr id="26" name="icon-bg-222"/>
          <p:cNvSpPr/>
          <p:nvPr/>
        </p:nvSpPr>
        <p:spPr>
          <a:xfrm>
            <a:off x="6492240" y="5230368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icon-2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999" y="5361127"/>
            <a:ext cx="332842" cy="332842"/>
          </a:xfrm>
          <a:prstGeom prst="rect">
            <a:avLst/>
          </a:prstGeom>
        </p:spPr>
      </p:pic>
      <p:sp>
        <p:nvSpPr>
          <p:cNvPr id="28" name="text-224"/>
          <p:cNvSpPr txBox="1"/>
          <p:nvPr/>
        </p:nvSpPr>
        <p:spPr>
          <a:xfrm>
            <a:off x="7269480" y="502920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他の人の予定は「空き／予定あり」だけを確認し、内容は見ません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-225"/>
          <p:cNvSpPr/>
          <p:nvPr/>
        </p:nvSpPr>
        <p:spPr>
          <a:xfrm>
            <a:off x="822960" y="269748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-22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979115"/>
            <a:ext cx="716890" cy="716890"/>
          </a:xfrm>
          <a:prstGeom prst="rect">
            <a:avLst/>
          </a:prstGeom>
        </p:spPr>
      </p:pic>
      <p:sp>
        <p:nvSpPr>
          <p:cNvPr id="4" name="text-227"/>
          <p:cNvSpPr txBox="1"/>
          <p:nvPr/>
        </p:nvSpPr>
        <p:spPr>
          <a:xfrm>
            <a:off x="23774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PART 2</a:t>
            </a:r>
            <a:endParaRPr lang="en-US" sz="16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377440" y="26517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使い方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2377440" y="361188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先方から候補が届いたとき／こちらから候補を出すとき／確定するとき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ケースA｜先方から候補日が届いたら（1/3）</a:t>
            </a:r>
            <a:endParaRPr lang="en-US" sz="3200" dirty="0"/>
          </a:p>
        </p:txBody>
      </p:sp>
      <p:sp>
        <p:nvSpPr>
          <p:cNvPr id="3" name="mock-frame-228"/>
          <p:cNvSpPr/>
          <p:nvPr/>
        </p:nvSpPr>
        <p:spPr>
          <a:xfrm>
            <a:off x="548640" y="1371600"/>
            <a:ext cx="4206240" cy="4215384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12700">
            <a:solidFill>
              <a:srgbClr val="C9D3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mock-logo-22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17904"/>
            <a:ext cx="292608" cy="292608"/>
          </a:xfrm>
          <a:prstGeom prst="rect">
            <a:avLst/>
          </a:prstGeom>
        </p:spPr>
      </p:pic>
      <p:sp>
        <p:nvSpPr>
          <p:cNvPr id="5" name="text-230"/>
          <p:cNvSpPr txBox="1"/>
          <p:nvPr/>
        </p:nvSpPr>
        <p:spPr>
          <a:xfrm>
            <a:off x="1097280" y="1481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日程調整アシスタント</a:t>
            </a:r>
            <a:endParaRPr lang="en-US" sz="1200" dirty="0"/>
          </a:p>
        </p:txBody>
      </p:sp>
      <p:sp>
        <p:nvSpPr>
          <p:cNvPr id="6" name="text-231"/>
          <p:cNvSpPr txBox="1"/>
          <p:nvPr/>
        </p:nvSpPr>
        <p:spPr>
          <a:xfrm>
            <a:off x="1097280" y="1719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メールから</a:t>
            </a:r>
            <a:endParaRPr lang="en-US" sz="1000" dirty="0"/>
          </a:p>
        </p:txBody>
      </p:sp>
      <p:sp>
        <p:nvSpPr>
          <p:cNvPr id="7" name="text-232"/>
          <p:cNvSpPr txBox="1"/>
          <p:nvPr/>
        </p:nvSpPr>
        <p:spPr>
          <a:xfrm>
            <a:off x="777240" y="21122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① 候補日の抽出</a:t>
            </a:r>
            <a:endParaRPr lang="en-US" sz="1100" dirty="0"/>
          </a:p>
        </p:txBody>
      </p:sp>
      <p:sp>
        <p:nvSpPr>
          <p:cNvPr id="8" name="text-233"/>
          <p:cNvSpPr txBox="1"/>
          <p:nvPr/>
        </p:nvSpPr>
        <p:spPr>
          <a:xfrm>
            <a:off x="777240" y="2441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このメールから以下の候補日を抽出しました。</a:t>
            </a:r>
            <a:endParaRPr lang="en-US" sz="1050" dirty="0"/>
          </a:p>
        </p:txBody>
      </p:sp>
      <p:sp>
        <p:nvSpPr>
          <p:cNvPr id="9" name="mock-check-234"/>
          <p:cNvSpPr/>
          <p:nvPr/>
        </p:nvSpPr>
        <p:spPr>
          <a:xfrm>
            <a:off x="777240" y="2788920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-235"/>
          <p:cNvSpPr txBox="1"/>
          <p:nvPr/>
        </p:nvSpPr>
        <p:spPr>
          <a:xfrm>
            <a:off x="777240" y="277063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-236"/>
          <p:cNvSpPr txBox="1"/>
          <p:nvPr/>
        </p:nvSpPr>
        <p:spPr>
          <a:xfrm>
            <a:off x="1069848" y="277063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9/15（月）13:00〜14:00</a:t>
            </a:r>
            <a:endParaRPr lang="en-US" sz="1100" dirty="0"/>
          </a:p>
        </p:txBody>
      </p:sp>
      <p:sp>
        <p:nvSpPr>
          <p:cNvPr id="12" name="mock-check-237"/>
          <p:cNvSpPr/>
          <p:nvPr/>
        </p:nvSpPr>
        <p:spPr>
          <a:xfrm>
            <a:off x="777240" y="311810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-238"/>
          <p:cNvSpPr txBox="1"/>
          <p:nvPr/>
        </p:nvSpPr>
        <p:spPr>
          <a:xfrm>
            <a:off x="777240" y="309981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-239"/>
          <p:cNvSpPr txBox="1"/>
          <p:nvPr/>
        </p:nvSpPr>
        <p:spPr>
          <a:xfrm>
            <a:off x="1069848" y="3099816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9/16（火）10:00〜11:00</a:t>
            </a:r>
            <a:endParaRPr lang="en-US" sz="1100" dirty="0"/>
          </a:p>
        </p:txBody>
      </p:sp>
      <p:sp>
        <p:nvSpPr>
          <p:cNvPr id="15" name="mock-check-240"/>
          <p:cNvSpPr/>
          <p:nvPr/>
        </p:nvSpPr>
        <p:spPr>
          <a:xfrm>
            <a:off x="777240" y="3447288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6" name="text-241"/>
          <p:cNvSpPr txBox="1"/>
          <p:nvPr/>
        </p:nvSpPr>
        <p:spPr>
          <a:xfrm>
            <a:off x="777240" y="34290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-242"/>
          <p:cNvSpPr txBox="1"/>
          <p:nvPr/>
        </p:nvSpPr>
        <p:spPr>
          <a:xfrm>
            <a:off x="1069848" y="342900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9/17（水）15:00〜16:00</a:t>
            </a:r>
            <a:endParaRPr lang="en-US" sz="1100" dirty="0"/>
          </a:p>
        </p:txBody>
      </p:sp>
      <p:sp>
        <p:nvSpPr>
          <p:cNvPr id="18" name="mock-input-243"/>
          <p:cNvSpPr/>
          <p:nvPr/>
        </p:nvSpPr>
        <p:spPr>
          <a:xfrm>
            <a:off x="777240" y="3739896"/>
            <a:ext cx="3749040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B7C2C6"/>
            </a:solidFill>
            <a:prstDash val="solid"/>
          </a:ln>
        </p:spPr>
      </p:sp>
      <p:sp>
        <p:nvSpPr>
          <p:cNvPr id="19" name="text-244"/>
          <p:cNvSpPr txBox="1"/>
          <p:nvPr/>
        </p:nvSpPr>
        <p:spPr>
          <a:xfrm>
            <a:off x="868680" y="37398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候補を手入力で追加　例：9/18 14:00〜15:00</a:t>
            </a:r>
            <a:endParaRPr lang="en-US" sz="1000" dirty="0"/>
          </a:p>
        </p:txBody>
      </p:sp>
      <p:sp>
        <p:nvSpPr>
          <p:cNvPr id="20" name="text-245"/>
          <p:cNvSpPr txBox="1"/>
          <p:nvPr/>
        </p:nvSpPr>
        <p:spPr>
          <a:xfrm>
            <a:off x="777240" y="4087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③ 社内の参加者を選択</a:t>
            </a:r>
            <a:endParaRPr lang="en-US" sz="1100" dirty="0"/>
          </a:p>
        </p:txBody>
      </p:sp>
      <p:sp>
        <p:nvSpPr>
          <p:cNvPr id="21" name="mock-check-246"/>
          <p:cNvSpPr/>
          <p:nvPr/>
        </p:nvSpPr>
        <p:spPr>
          <a:xfrm>
            <a:off x="777240" y="4434840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2" name="text-247"/>
          <p:cNvSpPr txBox="1"/>
          <p:nvPr/>
        </p:nvSpPr>
        <p:spPr>
          <a:xfrm>
            <a:off x="777240" y="441655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-248"/>
          <p:cNvSpPr txBox="1"/>
          <p:nvPr/>
        </p:nvSpPr>
        <p:spPr>
          <a:xfrm>
            <a:off x="1069848" y="441655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山田 花子</a:t>
            </a:r>
            <a:endParaRPr lang="en-US" sz="1100" dirty="0"/>
          </a:p>
        </p:txBody>
      </p:sp>
      <p:sp>
        <p:nvSpPr>
          <p:cNvPr id="24" name="mock-check-249"/>
          <p:cNvSpPr/>
          <p:nvPr/>
        </p:nvSpPr>
        <p:spPr>
          <a:xfrm>
            <a:off x="777240" y="476402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5" name="text-250"/>
          <p:cNvSpPr txBox="1"/>
          <p:nvPr/>
        </p:nvSpPr>
        <p:spPr>
          <a:xfrm>
            <a:off x="777240" y="47457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-251"/>
          <p:cNvSpPr txBox="1"/>
          <p:nvPr/>
        </p:nvSpPr>
        <p:spPr>
          <a:xfrm>
            <a:off x="1069848" y="4745736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佐藤 健</a:t>
            </a:r>
            <a:endParaRPr lang="en-US" sz="1100" dirty="0"/>
          </a:p>
        </p:txBody>
      </p:sp>
      <p:sp>
        <p:nvSpPr>
          <p:cNvPr id="27" name="mock-button-252"/>
          <p:cNvSpPr/>
          <p:nvPr/>
        </p:nvSpPr>
        <p:spPr>
          <a:xfrm>
            <a:off x="777240" y="5056632"/>
            <a:ext cx="374904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8" name="text-253"/>
          <p:cNvSpPr txBox="1"/>
          <p:nvPr/>
        </p:nvSpPr>
        <p:spPr>
          <a:xfrm>
            <a:off x="777240" y="5056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空き状況を確認</a:t>
            </a:r>
            <a:endParaRPr lang="en-US" sz="1100" dirty="0"/>
          </a:p>
        </p:txBody>
      </p:sp>
      <p:sp>
        <p:nvSpPr>
          <p:cNvPr id="29" name="num-bg-254"/>
          <p:cNvSpPr/>
          <p:nvPr/>
        </p:nvSpPr>
        <p:spPr>
          <a:xfrm>
            <a:off x="525780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-255"/>
          <p:cNvSpPr txBox="1"/>
          <p:nvPr/>
        </p:nvSpPr>
        <p:spPr>
          <a:xfrm>
            <a:off x="5257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31" name="text-256"/>
          <p:cNvSpPr txBox="1"/>
          <p:nvPr/>
        </p:nvSpPr>
        <p:spPr>
          <a:xfrm>
            <a:off x="5943600" y="13990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メールを開いてアイコンをクリック</a:t>
            </a:r>
            <a:endParaRPr lang="en-US" sz="1800" dirty="0"/>
          </a:p>
        </p:txBody>
      </p:sp>
      <p:sp>
        <p:nvSpPr>
          <p:cNvPr id="32" name="text-257"/>
          <p:cNvSpPr txBox="1"/>
          <p:nvPr/>
        </p:nvSpPr>
        <p:spPr>
          <a:xfrm>
            <a:off x="5943600" y="1828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先方からの候補日メールを開き、右側のアシスタントを表示します</a:t>
            </a:r>
            <a:endParaRPr lang="en-US" sz="1400" dirty="0"/>
          </a:p>
        </p:txBody>
      </p:sp>
      <p:sp>
        <p:nvSpPr>
          <p:cNvPr id="33" name="num-bg-258"/>
          <p:cNvSpPr/>
          <p:nvPr/>
        </p:nvSpPr>
        <p:spPr>
          <a:xfrm>
            <a:off x="5257800" y="2560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-259"/>
          <p:cNvSpPr txBox="1"/>
          <p:nvPr/>
        </p:nvSpPr>
        <p:spPr>
          <a:xfrm>
            <a:off x="52578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35" name="text-260"/>
          <p:cNvSpPr txBox="1"/>
          <p:nvPr/>
        </p:nvSpPr>
        <p:spPr>
          <a:xfrm>
            <a:off x="5943600" y="25420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抽出された候補を確認</a:t>
            </a:r>
            <a:endParaRPr lang="en-US" sz="1800" dirty="0"/>
          </a:p>
        </p:txBody>
      </p:sp>
      <p:sp>
        <p:nvSpPr>
          <p:cNvPr id="36" name="text-261"/>
          <p:cNvSpPr txBox="1"/>
          <p:nvPr/>
        </p:nvSpPr>
        <p:spPr>
          <a:xfrm>
            <a:off x="5943600" y="2971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違っていればチェックを外し、足りない候補は手入力で追加します</a:t>
            </a:r>
            <a:endParaRPr lang="en-US" sz="1400" dirty="0"/>
          </a:p>
        </p:txBody>
      </p:sp>
      <p:sp>
        <p:nvSpPr>
          <p:cNvPr id="37" name="num-bg-262"/>
          <p:cNvSpPr/>
          <p:nvPr/>
        </p:nvSpPr>
        <p:spPr>
          <a:xfrm>
            <a:off x="5257800" y="3703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text-263"/>
          <p:cNvSpPr txBox="1"/>
          <p:nvPr/>
        </p:nvSpPr>
        <p:spPr>
          <a:xfrm>
            <a:off x="52578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9" name="text-264"/>
          <p:cNvSpPr txBox="1"/>
          <p:nvPr/>
        </p:nvSpPr>
        <p:spPr>
          <a:xfrm>
            <a:off x="5943600" y="36850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案件情報を確認</a:t>
            </a:r>
            <a:endParaRPr lang="en-US" sz="1800" dirty="0"/>
          </a:p>
        </p:txBody>
      </p:sp>
      <p:sp>
        <p:nvSpPr>
          <p:cNvPr id="40" name="text-265"/>
          <p:cNvSpPr txBox="1"/>
          <p:nvPr/>
        </p:nvSpPr>
        <p:spPr>
          <a:xfrm>
            <a:off x="5943600" y="4114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会社名・担当者・案件名・形式（Web／訪問）を確認。件名に使われます</a:t>
            </a:r>
            <a:endParaRPr lang="en-US" sz="1400" dirty="0"/>
          </a:p>
        </p:txBody>
      </p:sp>
      <p:sp>
        <p:nvSpPr>
          <p:cNvPr id="41" name="num-bg-266"/>
          <p:cNvSpPr/>
          <p:nvPr/>
        </p:nvSpPr>
        <p:spPr>
          <a:xfrm>
            <a:off x="5257800" y="4846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text-267"/>
          <p:cNvSpPr txBox="1"/>
          <p:nvPr/>
        </p:nvSpPr>
        <p:spPr>
          <a:xfrm>
            <a:off x="525780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43" name="text-268"/>
          <p:cNvSpPr txBox="1"/>
          <p:nvPr/>
        </p:nvSpPr>
        <p:spPr>
          <a:xfrm>
            <a:off x="5943600" y="48280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社内の参加者を選ぶ</a:t>
            </a:r>
            <a:endParaRPr lang="en-US" sz="1800" dirty="0"/>
          </a:p>
        </p:txBody>
      </p:sp>
      <p:sp>
        <p:nvSpPr>
          <p:cNvPr id="44" name="text-269"/>
          <p:cNvSpPr txBox="1"/>
          <p:nvPr/>
        </p:nvSpPr>
        <p:spPr>
          <a:xfrm>
            <a:off x="5943600" y="5257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登録メンバーにチェック。名前検索やメールアドレスで追加もできます</a:t>
            </a:r>
            <a:endParaRPr lang="en-US" sz="1400" dirty="0"/>
          </a:p>
        </p:txBody>
      </p:sp>
      <p:sp>
        <p:nvSpPr>
          <p:cNvPr id="45" name="text-270"/>
          <p:cNvSpPr txBox="1"/>
          <p:nvPr/>
        </p:nvSpPr>
        <p:spPr>
          <a:xfrm>
            <a:off x="5943600" y="5806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最後に「空き状況を確認」を押します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ケースA｜空き状況を確認する（2/3）</a:t>
            </a:r>
            <a:endParaRPr lang="en-US" sz="3200" dirty="0"/>
          </a:p>
        </p:txBody>
      </p:sp>
      <p:sp>
        <p:nvSpPr>
          <p:cNvPr id="3" name="mock-frame-271"/>
          <p:cNvSpPr/>
          <p:nvPr/>
        </p:nvSpPr>
        <p:spPr>
          <a:xfrm>
            <a:off x="548640" y="1371600"/>
            <a:ext cx="4206240" cy="3968496"/>
          </a:xfrm>
          <a:prstGeom prst="roundRect">
            <a:avLst>
              <a:gd name="adj" fmla="val 2304"/>
            </a:avLst>
          </a:prstGeom>
          <a:solidFill>
            <a:schemeClr val="bg1"/>
          </a:solidFill>
          <a:ln w="12700">
            <a:solidFill>
              <a:srgbClr val="C9D3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mock-logo-27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17904"/>
            <a:ext cx="292608" cy="292608"/>
          </a:xfrm>
          <a:prstGeom prst="rect">
            <a:avLst/>
          </a:prstGeom>
        </p:spPr>
      </p:pic>
      <p:sp>
        <p:nvSpPr>
          <p:cNvPr id="5" name="text-273"/>
          <p:cNvSpPr txBox="1"/>
          <p:nvPr/>
        </p:nvSpPr>
        <p:spPr>
          <a:xfrm>
            <a:off x="1097280" y="1481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日程調整アシスタント</a:t>
            </a:r>
            <a:endParaRPr lang="en-US" sz="1200" dirty="0"/>
          </a:p>
        </p:txBody>
      </p:sp>
      <p:sp>
        <p:nvSpPr>
          <p:cNvPr id="6" name="text-274"/>
          <p:cNvSpPr txBox="1"/>
          <p:nvPr/>
        </p:nvSpPr>
        <p:spPr>
          <a:xfrm>
            <a:off x="1097280" y="1719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空き状況の確認</a:t>
            </a:r>
            <a:endParaRPr lang="en-US" sz="1000" dirty="0"/>
          </a:p>
        </p:txBody>
      </p:sp>
      <p:sp>
        <p:nvSpPr>
          <p:cNvPr id="7" name="mock-note-275"/>
          <p:cNvSpPr/>
          <p:nvPr/>
        </p:nvSpPr>
        <p:spPr>
          <a:xfrm>
            <a:off x="777240" y="2084832"/>
            <a:ext cx="3749040" cy="356616"/>
          </a:xfrm>
          <a:prstGeom prst="roundRect">
            <a:avLst>
              <a:gd name="adj" fmla="val 15385"/>
            </a:avLst>
          </a:prstGeom>
          <a:solidFill>
            <a:srgbClr val="E3F4EA"/>
          </a:solidFill>
          <a:ln/>
        </p:spPr>
      </p:sp>
      <p:sp>
        <p:nvSpPr>
          <p:cNvPr id="8" name="text-276"/>
          <p:cNvSpPr txBox="1"/>
          <p:nvPr/>
        </p:nvSpPr>
        <p:spPr>
          <a:xfrm>
            <a:off x="886968" y="2084832"/>
            <a:ext cx="35295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✓ 全員が参加可能な候補です</a:t>
            </a:r>
            <a:endParaRPr lang="en-US" sz="1050" dirty="0"/>
          </a:p>
        </p:txBody>
      </p:sp>
      <p:sp>
        <p:nvSpPr>
          <p:cNvPr id="9" name="mock-check-277"/>
          <p:cNvSpPr/>
          <p:nvPr/>
        </p:nvSpPr>
        <p:spPr>
          <a:xfrm>
            <a:off x="777240" y="2542032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-278"/>
          <p:cNvSpPr txBox="1"/>
          <p:nvPr/>
        </p:nvSpPr>
        <p:spPr>
          <a:xfrm>
            <a:off x="777240" y="25237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-279"/>
          <p:cNvSpPr txBox="1"/>
          <p:nvPr/>
        </p:nvSpPr>
        <p:spPr>
          <a:xfrm>
            <a:off x="1069848" y="252374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9/15（月）13:00〜14:00</a:t>
            </a:r>
            <a:endParaRPr lang="en-US" sz="1100" dirty="0"/>
          </a:p>
        </p:txBody>
      </p:sp>
      <p:sp>
        <p:nvSpPr>
          <p:cNvPr id="12" name="mock-chip-280"/>
          <p:cNvSpPr/>
          <p:nvPr/>
        </p:nvSpPr>
        <p:spPr>
          <a:xfrm>
            <a:off x="3520440" y="2523744"/>
            <a:ext cx="100584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3" name="text-281"/>
          <p:cNvSpPr txBox="1"/>
          <p:nvPr/>
        </p:nvSpPr>
        <p:spPr>
          <a:xfrm>
            <a:off x="3520440" y="25237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全員空き</a:t>
            </a:r>
            <a:endParaRPr lang="en-US" sz="900" dirty="0"/>
          </a:p>
        </p:txBody>
      </p:sp>
      <p:sp>
        <p:nvSpPr>
          <p:cNvPr id="14" name="mock-check-282"/>
          <p:cNvSpPr/>
          <p:nvPr/>
        </p:nvSpPr>
        <p:spPr>
          <a:xfrm>
            <a:off x="777240" y="2871216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text-283"/>
          <p:cNvSpPr txBox="1"/>
          <p:nvPr/>
        </p:nvSpPr>
        <p:spPr>
          <a:xfrm>
            <a:off x="777240" y="28529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-284"/>
          <p:cNvSpPr txBox="1"/>
          <p:nvPr/>
        </p:nvSpPr>
        <p:spPr>
          <a:xfrm>
            <a:off x="1069848" y="2852928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9/16（火）10:00〜11:00</a:t>
            </a:r>
            <a:endParaRPr lang="en-US" sz="1100" dirty="0"/>
          </a:p>
        </p:txBody>
      </p:sp>
      <p:sp>
        <p:nvSpPr>
          <p:cNvPr id="17" name="mock-chip-285"/>
          <p:cNvSpPr/>
          <p:nvPr/>
        </p:nvSpPr>
        <p:spPr>
          <a:xfrm>
            <a:off x="3520440" y="2852928"/>
            <a:ext cx="100584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8" name="text-286"/>
          <p:cNvSpPr txBox="1"/>
          <p:nvPr/>
        </p:nvSpPr>
        <p:spPr>
          <a:xfrm>
            <a:off x="3520440" y="28529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全員空き</a:t>
            </a:r>
            <a:endParaRPr lang="en-US" sz="900" dirty="0"/>
          </a:p>
        </p:txBody>
      </p:sp>
      <p:sp>
        <p:nvSpPr>
          <p:cNvPr id="19" name="mock-check-287"/>
          <p:cNvSpPr/>
          <p:nvPr/>
        </p:nvSpPr>
        <p:spPr>
          <a:xfrm>
            <a:off x="777240" y="3200400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9AA5AA"/>
            </a:solidFill>
            <a:prstDash val="solid"/>
          </a:ln>
        </p:spPr>
      </p:sp>
      <p:sp>
        <p:nvSpPr>
          <p:cNvPr id="20" name="text-288"/>
          <p:cNvSpPr txBox="1"/>
          <p:nvPr/>
        </p:nvSpPr>
        <p:spPr>
          <a:xfrm>
            <a:off x="1069848" y="3182112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9/17（水）15:00〜16:00</a:t>
            </a:r>
            <a:endParaRPr lang="en-US" sz="1100" dirty="0"/>
          </a:p>
        </p:txBody>
      </p:sp>
      <p:sp>
        <p:nvSpPr>
          <p:cNvPr id="21" name="mock-chip-289"/>
          <p:cNvSpPr/>
          <p:nvPr/>
        </p:nvSpPr>
        <p:spPr>
          <a:xfrm>
            <a:off x="3520440" y="3182112"/>
            <a:ext cx="100584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2" name="text-290"/>
          <p:cNvSpPr txBox="1"/>
          <p:nvPr/>
        </p:nvSpPr>
        <p:spPr>
          <a:xfrm>
            <a:off x="3520440" y="31821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1名予定あり</a:t>
            </a:r>
            <a:endParaRPr lang="en-US" sz="900" dirty="0"/>
          </a:p>
        </p:txBody>
      </p:sp>
      <p:sp>
        <p:nvSpPr>
          <p:cNvPr id="23" name="text-291"/>
          <p:cNvSpPr txBox="1"/>
          <p:nvPr/>
        </p:nvSpPr>
        <p:spPr>
          <a:xfrm>
            <a:off x="777240" y="3511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④ 実行するアクション</a:t>
            </a:r>
            <a:endParaRPr lang="en-US" sz="1100" dirty="0"/>
          </a:p>
        </p:txBody>
      </p:sp>
      <p:sp>
        <p:nvSpPr>
          <p:cNvPr id="24" name="mock-check-292"/>
          <p:cNvSpPr/>
          <p:nvPr/>
        </p:nvSpPr>
        <p:spPr>
          <a:xfrm>
            <a:off x="777240" y="3858768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5" name="text-293"/>
          <p:cNvSpPr txBox="1"/>
          <p:nvPr/>
        </p:nvSpPr>
        <p:spPr>
          <a:xfrm>
            <a:off x="777240" y="38404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-294"/>
          <p:cNvSpPr txBox="1"/>
          <p:nvPr/>
        </p:nvSpPr>
        <p:spPr>
          <a:xfrm>
            <a:off x="1069848" y="384048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選択した候補をカレンダーに仮押さえ</a:t>
            </a:r>
            <a:endParaRPr lang="en-US" sz="1100" dirty="0"/>
          </a:p>
        </p:txBody>
      </p:sp>
      <p:sp>
        <p:nvSpPr>
          <p:cNvPr id="27" name="mock-check-295"/>
          <p:cNvSpPr/>
          <p:nvPr/>
        </p:nvSpPr>
        <p:spPr>
          <a:xfrm>
            <a:off x="777240" y="4187952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8" name="text-296"/>
          <p:cNvSpPr txBox="1"/>
          <p:nvPr/>
        </p:nvSpPr>
        <p:spPr>
          <a:xfrm>
            <a:off x="777240" y="416966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-297"/>
          <p:cNvSpPr txBox="1"/>
          <p:nvPr/>
        </p:nvSpPr>
        <p:spPr>
          <a:xfrm>
            <a:off x="1069848" y="4169664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社内参加者も仮押さえに招待</a:t>
            </a:r>
            <a:endParaRPr lang="en-US" sz="1100" dirty="0"/>
          </a:p>
        </p:txBody>
      </p:sp>
      <p:sp>
        <p:nvSpPr>
          <p:cNvPr id="30" name="mock-check-298"/>
          <p:cNvSpPr/>
          <p:nvPr/>
        </p:nvSpPr>
        <p:spPr>
          <a:xfrm>
            <a:off x="777240" y="4517136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9AA5AA"/>
            </a:solidFill>
            <a:prstDash val="solid"/>
          </a:ln>
        </p:spPr>
      </p:sp>
      <p:sp>
        <p:nvSpPr>
          <p:cNvPr id="31" name="text-299"/>
          <p:cNvSpPr txBox="1"/>
          <p:nvPr/>
        </p:nvSpPr>
        <p:spPr>
          <a:xfrm>
            <a:off x="1069848" y="449884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社内参加者をメールのCCに追加</a:t>
            </a:r>
            <a:endParaRPr lang="en-US" sz="1100" dirty="0"/>
          </a:p>
        </p:txBody>
      </p:sp>
      <p:sp>
        <p:nvSpPr>
          <p:cNvPr id="32" name="mock-button-300"/>
          <p:cNvSpPr/>
          <p:nvPr/>
        </p:nvSpPr>
        <p:spPr>
          <a:xfrm>
            <a:off x="777240" y="4809744"/>
            <a:ext cx="374904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33" name="text-301"/>
          <p:cNvSpPr txBox="1"/>
          <p:nvPr/>
        </p:nvSpPr>
        <p:spPr>
          <a:xfrm>
            <a:off x="777240" y="48097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候補日を送る（下書きを作成）</a:t>
            </a:r>
            <a:endParaRPr lang="en-US" sz="1100" dirty="0"/>
          </a:p>
        </p:txBody>
      </p:sp>
      <p:sp>
        <p:nvSpPr>
          <p:cNvPr id="34" name="text-302"/>
          <p:cNvSpPr txBox="1"/>
          <p:nvPr/>
        </p:nvSpPr>
        <p:spPr>
          <a:xfrm>
            <a:off x="525780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表示の見方</a:t>
            </a:r>
            <a:endParaRPr lang="en-US" sz="2000" dirty="0"/>
          </a:p>
        </p:txBody>
      </p:sp>
      <p:sp>
        <p:nvSpPr>
          <p:cNvPr id="35" name="chip-303"/>
          <p:cNvSpPr/>
          <p:nvPr/>
        </p:nvSpPr>
        <p:spPr>
          <a:xfrm>
            <a:off x="5257800" y="192024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6" name="text-304"/>
          <p:cNvSpPr txBox="1"/>
          <p:nvPr/>
        </p:nvSpPr>
        <p:spPr>
          <a:xfrm>
            <a:off x="5257800" y="19202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全員空き</a:t>
            </a:r>
            <a:endParaRPr lang="en-US" sz="1200" dirty="0"/>
          </a:p>
        </p:txBody>
      </p:sp>
      <p:sp>
        <p:nvSpPr>
          <p:cNvPr id="37" name="text-305"/>
          <p:cNvSpPr txBox="1"/>
          <p:nvPr/>
        </p:nvSpPr>
        <p:spPr>
          <a:xfrm>
            <a:off x="7178040" y="18745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自分と選んだ参加者全員が空いています。最初からチェックが入ります</a:t>
            </a:r>
            <a:endParaRPr lang="en-US" sz="1400" dirty="0"/>
          </a:p>
        </p:txBody>
      </p:sp>
      <p:sp>
        <p:nvSpPr>
          <p:cNvPr id="38" name="chip-306"/>
          <p:cNvSpPr/>
          <p:nvPr/>
        </p:nvSpPr>
        <p:spPr>
          <a:xfrm>
            <a:off x="5257800" y="265176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9" name="text-307"/>
          <p:cNvSpPr txBox="1"/>
          <p:nvPr/>
        </p:nvSpPr>
        <p:spPr>
          <a:xfrm>
            <a:off x="5257800" y="26517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○名が予定あり</a:t>
            </a:r>
            <a:endParaRPr lang="en-US" sz="1200" dirty="0"/>
          </a:p>
        </p:txBody>
      </p:sp>
      <p:sp>
        <p:nvSpPr>
          <p:cNvPr id="40" name="text-308"/>
          <p:cNvSpPr txBox="1"/>
          <p:nvPr/>
        </p:nvSpPr>
        <p:spPr>
          <a:xfrm>
            <a:off x="7178040" y="2606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予定が重なる人の名前が表示されます。送るかどうかを判断してください</a:t>
            </a:r>
            <a:endParaRPr lang="en-US" sz="1400" dirty="0"/>
          </a:p>
        </p:txBody>
      </p:sp>
      <p:sp>
        <p:nvSpPr>
          <p:cNvPr id="41" name="chip-309"/>
          <p:cNvSpPr/>
          <p:nvPr/>
        </p:nvSpPr>
        <p:spPr>
          <a:xfrm>
            <a:off x="5257800" y="338328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42" name="text-310"/>
          <p:cNvSpPr txBox="1"/>
          <p:nvPr/>
        </p:nvSpPr>
        <p:spPr>
          <a:xfrm>
            <a:off x="5257800" y="3383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確認不可</a:t>
            </a:r>
            <a:endParaRPr lang="en-US" sz="1200" dirty="0"/>
          </a:p>
        </p:txBody>
      </p:sp>
      <p:sp>
        <p:nvSpPr>
          <p:cNvPr id="43" name="text-311"/>
          <p:cNvSpPr txBox="1"/>
          <p:nvPr/>
        </p:nvSpPr>
        <p:spPr>
          <a:xfrm>
            <a:off x="7178040" y="3337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カレンダーが共有されていない人がいます（社外アドレスなど）</a:t>
            </a:r>
            <a:endParaRPr lang="en-US" sz="1400" dirty="0"/>
          </a:p>
        </p:txBody>
      </p:sp>
      <p:sp>
        <p:nvSpPr>
          <p:cNvPr id="44" name="text-312"/>
          <p:cNvSpPr txBox="1"/>
          <p:nvPr/>
        </p:nvSpPr>
        <p:spPr>
          <a:xfrm>
            <a:off x="5257800" y="4206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アクションの選び方</a:t>
            </a:r>
            <a:endParaRPr lang="en-US" sz="2000" dirty="0"/>
          </a:p>
        </p:txBody>
      </p:sp>
      <p:sp>
        <p:nvSpPr>
          <p:cNvPr id="45" name="text-313"/>
          <p:cNvSpPr txBox="1"/>
          <p:nvPr/>
        </p:nvSpPr>
        <p:spPr>
          <a:xfrm>
            <a:off x="5257800" y="46634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仮押さえ：候補をカレンダーに黄色の【調整中】予定として登録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参加者も招待：参加者のカレンダーも押さえ、他の予定が入るのを防止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CC：打診メールのCCに社内参加者を追加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ケースA｜下書きを確認して送信（3/3）</a:t>
            </a:r>
            <a:endParaRPr lang="en-US" sz="3200" dirty="0"/>
          </a:p>
        </p:txBody>
      </p:sp>
      <p:sp>
        <p:nvSpPr>
          <p:cNvPr id="3" name="text-314"/>
          <p:cNvSpPr txBox="1"/>
          <p:nvPr/>
        </p:nvSpPr>
        <p:spPr>
          <a:xfrm>
            <a:off x="54864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件名は自動でこの形になります</a:t>
            </a:r>
            <a:endParaRPr lang="en-US" sz="2000" dirty="0"/>
          </a:p>
        </p:txBody>
      </p:sp>
      <p:sp>
        <p:nvSpPr>
          <p:cNvPr id="4" name="card-315"/>
          <p:cNvSpPr/>
          <p:nvPr/>
        </p:nvSpPr>
        <p:spPr>
          <a:xfrm>
            <a:off x="548640" y="1920240"/>
            <a:ext cx="1298448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5" name="text-316"/>
          <p:cNvSpPr txBox="1"/>
          <p:nvPr/>
        </p:nvSpPr>
        <p:spPr>
          <a:xfrm>
            <a:off x="548640" y="19202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【調整中】</a:t>
            </a:r>
            <a:endParaRPr lang="en-US" sz="1700" dirty="0"/>
          </a:p>
        </p:txBody>
      </p:sp>
      <p:sp>
        <p:nvSpPr>
          <p:cNvPr id="6" name="text-317"/>
          <p:cNvSpPr txBox="1"/>
          <p:nvPr/>
        </p:nvSpPr>
        <p:spPr>
          <a:xfrm>
            <a:off x="548640" y="26974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状態</a:t>
            </a:r>
            <a:endParaRPr lang="en-US" sz="1200" dirty="0"/>
          </a:p>
        </p:txBody>
      </p:sp>
      <p:sp>
        <p:nvSpPr>
          <p:cNvPr id="7" name="card-318"/>
          <p:cNvSpPr/>
          <p:nvPr/>
        </p:nvSpPr>
        <p:spPr>
          <a:xfrm>
            <a:off x="1920240" y="1920240"/>
            <a:ext cx="1069848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8" name="text-319"/>
          <p:cNvSpPr txBox="1"/>
          <p:nvPr/>
        </p:nvSpPr>
        <p:spPr>
          <a:xfrm>
            <a:off x="1920240" y="1920240"/>
            <a:ext cx="106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【Web】</a:t>
            </a:r>
            <a:endParaRPr lang="en-US" sz="1700" dirty="0"/>
          </a:p>
        </p:txBody>
      </p:sp>
      <p:sp>
        <p:nvSpPr>
          <p:cNvPr id="9" name="text-320"/>
          <p:cNvSpPr txBox="1"/>
          <p:nvPr/>
        </p:nvSpPr>
        <p:spPr>
          <a:xfrm>
            <a:off x="1920240" y="2697480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形式</a:t>
            </a:r>
            <a:endParaRPr lang="en-US" sz="1200" dirty="0"/>
          </a:p>
        </p:txBody>
      </p:sp>
      <p:sp>
        <p:nvSpPr>
          <p:cNvPr id="10" name="card-321"/>
          <p:cNvSpPr/>
          <p:nvPr/>
        </p:nvSpPr>
        <p:spPr>
          <a:xfrm>
            <a:off x="3063240" y="1920240"/>
            <a:ext cx="1298448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1" name="text-322"/>
          <p:cNvSpPr txBox="1"/>
          <p:nvPr/>
        </p:nvSpPr>
        <p:spPr>
          <a:xfrm>
            <a:off x="3063240" y="19202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ABC商事</a:t>
            </a:r>
            <a:endParaRPr lang="en-US" sz="1700" dirty="0"/>
          </a:p>
        </p:txBody>
      </p:sp>
      <p:sp>
        <p:nvSpPr>
          <p:cNvPr id="12" name="text-323"/>
          <p:cNvSpPr txBox="1"/>
          <p:nvPr/>
        </p:nvSpPr>
        <p:spPr>
          <a:xfrm>
            <a:off x="3063240" y="26974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会社名</a:t>
            </a:r>
            <a:endParaRPr lang="en-US" sz="1200" dirty="0"/>
          </a:p>
        </p:txBody>
      </p:sp>
      <p:sp>
        <p:nvSpPr>
          <p:cNvPr id="13" name="card-324"/>
          <p:cNvSpPr/>
          <p:nvPr/>
        </p:nvSpPr>
        <p:spPr>
          <a:xfrm>
            <a:off x="4434840" y="1920240"/>
            <a:ext cx="1755648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4" name="text-325"/>
          <p:cNvSpPr txBox="1"/>
          <p:nvPr/>
        </p:nvSpPr>
        <p:spPr>
          <a:xfrm>
            <a:off x="4434840" y="192024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｜新製品案件</a:t>
            </a:r>
            <a:endParaRPr lang="en-US" sz="1700" dirty="0"/>
          </a:p>
        </p:txBody>
      </p:sp>
      <p:sp>
        <p:nvSpPr>
          <p:cNvPr id="15" name="text-326"/>
          <p:cNvSpPr txBox="1"/>
          <p:nvPr/>
        </p:nvSpPr>
        <p:spPr>
          <a:xfrm>
            <a:off x="4434840" y="26974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案件名</a:t>
            </a:r>
            <a:endParaRPr lang="en-US" sz="1200" dirty="0"/>
          </a:p>
        </p:txBody>
      </p:sp>
      <p:sp>
        <p:nvSpPr>
          <p:cNvPr id="16" name="card-327"/>
          <p:cNvSpPr/>
          <p:nvPr/>
        </p:nvSpPr>
        <p:spPr>
          <a:xfrm>
            <a:off x="6263640" y="1920240"/>
            <a:ext cx="1892808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7" name="text-328"/>
          <p:cNvSpPr txBox="1"/>
          <p:nvPr/>
        </p:nvSpPr>
        <p:spPr>
          <a:xfrm>
            <a:off x="6263640" y="1920240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｜田中バイヤー</a:t>
            </a:r>
            <a:endParaRPr lang="en-US" sz="1700" dirty="0"/>
          </a:p>
        </p:txBody>
      </p:sp>
      <p:sp>
        <p:nvSpPr>
          <p:cNvPr id="18" name="text-329"/>
          <p:cNvSpPr txBox="1"/>
          <p:nvPr/>
        </p:nvSpPr>
        <p:spPr>
          <a:xfrm>
            <a:off x="6263640" y="2697480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担当者＋立場</a:t>
            </a:r>
            <a:endParaRPr lang="en-US" sz="1200" dirty="0"/>
          </a:p>
        </p:txBody>
      </p:sp>
      <p:sp>
        <p:nvSpPr>
          <p:cNvPr id="19" name="card-330"/>
          <p:cNvSpPr/>
          <p:nvPr/>
        </p:nvSpPr>
        <p:spPr>
          <a:xfrm>
            <a:off x="548640" y="329184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0" name="text-331"/>
          <p:cNvSpPr txBox="1"/>
          <p:nvPr/>
        </p:nvSpPr>
        <p:spPr>
          <a:xfrm>
            <a:off x="77724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状態</a:t>
            </a:r>
            <a:endParaRPr lang="en-US" sz="1600" dirty="0"/>
          </a:p>
        </p:txBody>
      </p:sp>
      <p:sp>
        <p:nvSpPr>
          <p:cNvPr id="21" name="text-332"/>
          <p:cNvSpPr txBox="1"/>
          <p:nvPr/>
        </p:nvSpPr>
        <p:spPr>
          <a:xfrm>
            <a:off x="777240" y="3931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【調整中】候補を打診中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【確定】日程が決まった</a:t>
            </a:r>
            <a:endParaRPr lang="en-US" sz="1400" dirty="0"/>
          </a:p>
        </p:txBody>
      </p:sp>
      <p:sp>
        <p:nvSpPr>
          <p:cNvPr id="22" name="card-333"/>
          <p:cNvSpPr/>
          <p:nvPr/>
        </p:nvSpPr>
        <p:spPr>
          <a:xfrm>
            <a:off x="4251960" y="329184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3" name="text-334"/>
          <p:cNvSpPr txBox="1"/>
          <p:nvPr/>
        </p:nvSpPr>
        <p:spPr>
          <a:xfrm>
            <a:off x="448056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形式</a:t>
            </a:r>
            <a:endParaRPr lang="en-US" sz="1600" dirty="0"/>
          </a:p>
        </p:txBody>
      </p:sp>
      <p:sp>
        <p:nvSpPr>
          <p:cNvPr id="24" name="text-335"/>
          <p:cNvSpPr txBox="1"/>
          <p:nvPr/>
        </p:nvSpPr>
        <p:spPr>
          <a:xfrm>
            <a:off x="4480560" y="39319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【Web】Web会議のみ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【訪問】対面のみ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【訪問・一部Web】訪問し、一部はWebで参加</a:t>
            </a:r>
            <a:endParaRPr lang="en-US" sz="1400" dirty="0"/>
          </a:p>
        </p:txBody>
      </p:sp>
      <p:sp>
        <p:nvSpPr>
          <p:cNvPr id="25" name="card-336"/>
          <p:cNvSpPr/>
          <p:nvPr/>
        </p:nvSpPr>
        <p:spPr>
          <a:xfrm>
            <a:off x="7955280" y="3291840"/>
            <a:ext cx="3703320" cy="2286000"/>
          </a:xfrm>
          <a:prstGeom prst="roundRect">
            <a:avLst>
              <a:gd name="adj" fmla="val 4800"/>
            </a:avLst>
          </a:prstGeom>
          <a:solidFill>
            <a:srgbClr val="E3F4EA"/>
          </a:solidFill>
          <a:ln/>
        </p:spPr>
      </p:sp>
      <p:sp>
        <p:nvSpPr>
          <p:cNvPr id="26" name="icon-bg-337"/>
          <p:cNvSpPr/>
          <p:nvPr/>
        </p:nvSpPr>
        <p:spPr>
          <a:xfrm>
            <a:off x="8183880" y="34747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icon-33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4581" y="3595421"/>
            <a:ext cx="307238" cy="307238"/>
          </a:xfrm>
          <a:prstGeom prst="rect">
            <a:avLst/>
          </a:prstGeom>
        </p:spPr>
      </p:pic>
      <p:sp>
        <p:nvSpPr>
          <p:cNvPr id="28" name="text-339"/>
          <p:cNvSpPr txBox="1"/>
          <p:nvPr/>
        </p:nvSpPr>
        <p:spPr>
          <a:xfrm>
            <a:off x="886968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送信するまで</a:t>
            </a:r>
            <a:endParaRPr lang="en-US" sz="1600" dirty="0"/>
          </a:p>
        </p:txBody>
      </p:sp>
      <p:sp>
        <p:nvSpPr>
          <p:cNvPr id="29" name="text-340"/>
          <p:cNvSpPr txBox="1"/>
          <p:nvPr/>
        </p:nvSpPr>
        <p:spPr>
          <a:xfrm>
            <a:off x="8183880" y="42062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「下書きを開いて編集・送信」を押す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宛先・本文・候補日を確認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必要に応じて修正して送信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ケースB｜こちらから候補日を出すとき</a:t>
            </a:r>
            <a:endParaRPr lang="en-US" sz="3200" dirty="0"/>
          </a:p>
        </p:txBody>
      </p:sp>
      <p:sp>
        <p:nvSpPr>
          <p:cNvPr id="3" name="text-341"/>
          <p:cNvSpPr txBox="1"/>
          <p:nvPr/>
        </p:nvSpPr>
        <p:spPr>
          <a:xfrm>
            <a:off x="548640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サイドバー上部の「新規で作成」タブ（メールを開いていないときはホーム画面）から始めます</a:t>
            </a:r>
            <a:endParaRPr lang="en-US" sz="1500" dirty="0"/>
          </a:p>
        </p:txBody>
      </p:sp>
      <p:sp>
        <p:nvSpPr>
          <p:cNvPr id="4" name="card-342"/>
          <p:cNvSpPr/>
          <p:nvPr/>
        </p:nvSpPr>
        <p:spPr>
          <a:xfrm>
            <a:off x="548640" y="192024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" name="icon-bg-343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34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269541"/>
            <a:ext cx="307238" cy="307238"/>
          </a:xfrm>
          <a:prstGeom prst="rect">
            <a:avLst/>
          </a:prstGeom>
        </p:spPr>
      </p:pic>
      <p:sp>
        <p:nvSpPr>
          <p:cNvPr id="7" name="text-345"/>
          <p:cNvSpPr txBox="1"/>
          <p:nvPr/>
        </p:nvSpPr>
        <p:spPr>
          <a:xfrm>
            <a:off x="1508760" y="2148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宛先・案件情報</a:t>
            </a:r>
            <a:endParaRPr lang="en-US" sz="1600" dirty="0"/>
          </a:p>
        </p:txBody>
      </p:sp>
      <p:sp>
        <p:nvSpPr>
          <p:cNvPr id="8" name="text-346"/>
          <p:cNvSpPr txBox="1"/>
          <p:nvPr/>
        </p:nvSpPr>
        <p:spPr>
          <a:xfrm>
            <a:off x="1508760" y="257860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先方メールアドレス、会社名、担当者、案件名、形式（Web／訪問）</a:t>
            </a:r>
            <a:endParaRPr lang="en-US" sz="1300" dirty="0"/>
          </a:p>
        </p:txBody>
      </p:sp>
      <p:sp>
        <p:nvSpPr>
          <p:cNvPr id="9" name="card-347"/>
          <p:cNvSpPr/>
          <p:nvPr/>
        </p:nvSpPr>
        <p:spPr>
          <a:xfrm>
            <a:off x="4297680" y="192024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icon-bg-348"/>
          <p:cNvSpPr/>
          <p:nvPr/>
        </p:nvSpPr>
        <p:spPr>
          <a:xfrm>
            <a:off x="452628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34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2269541"/>
            <a:ext cx="307238" cy="307238"/>
          </a:xfrm>
          <a:prstGeom prst="rect">
            <a:avLst/>
          </a:prstGeom>
        </p:spPr>
      </p:pic>
      <p:sp>
        <p:nvSpPr>
          <p:cNvPr id="12" name="text-350"/>
          <p:cNvSpPr txBox="1"/>
          <p:nvPr/>
        </p:nvSpPr>
        <p:spPr>
          <a:xfrm>
            <a:off x="5257800" y="2148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社内の参加者</a:t>
            </a:r>
            <a:endParaRPr lang="en-US" sz="1600" dirty="0"/>
          </a:p>
        </p:txBody>
      </p:sp>
      <p:sp>
        <p:nvSpPr>
          <p:cNvPr id="13" name="text-351"/>
          <p:cNvSpPr txBox="1"/>
          <p:nvPr/>
        </p:nvSpPr>
        <p:spPr>
          <a:xfrm>
            <a:off x="5257800" y="257860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一緒に出席するメンバーを選択。自分の予定は自動で含まれます</a:t>
            </a:r>
            <a:endParaRPr lang="en-US" sz="1300" dirty="0"/>
          </a:p>
        </p:txBody>
      </p:sp>
      <p:sp>
        <p:nvSpPr>
          <p:cNvPr id="14" name="card-352"/>
          <p:cNvSpPr/>
          <p:nvPr/>
        </p:nvSpPr>
        <p:spPr>
          <a:xfrm>
            <a:off x="8046720" y="192024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5" name="icon-bg-353"/>
          <p:cNvSpPr/>
          <p:nvPr/>
        </p:nvSpPr>
        <p:spPr>
          <a:xfrm>
            <a:off x="827532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35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2269541"/>
            <a:ext cx="307238" cy="307238"/>
          </a:xfrm>
          <a:prstGeom prst="rect">
            <a:avLst/>
          </a:prstGeom>
        </p:spPr>
      </p:pic>
      <p:sp>
        <p:nvSpPr>
          <p:cNvPr id="17" name="text-355"/>
          <p:cNvSpPr txBox="1"/>
          <p:nvPr/>
        </p:nvSpPr>
        <p:spPr>
          <a:xfrm>
            <a:off x="9006840" y="2148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検索する期間</a:t>
            </a:r>
            <a:endParaRPr lang="en-US" sz="1600" dirty="0"/>
          </a:p>
        </p:txBody>
      </p:sp>
      <p:sp>
        <p:nvSpPr>
          <p:cNvPr id="18" name="text-356"/>
          <p:cNvSpPr txBox="1"/>
          <p:nvPr/>
        </p:nvSpPr>
        <p:spPr>
          <a:xfrm>
            <a:off x="9006840" y="257860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開始日と終了日。初期値は明日から2週間</a:t>
            </a:r>
            <a:endParaRPr lang="en-US" sz="1300" dirty="0"/>
          </a:p>
        </p:txBody>
      </p:sp>
      <p:sp>
        <p:nvSpPr>
          <p:cNvPr id="19" name="card-357"/>
          <p:cNvSpPr/>
          <p:nvPr/>
        </p:nvSpPr>
        <p:spPr>
          <a:xfrm>
            <a:off x="548640" y="352044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0" name="icon-bg-358"/>
          <p:cNvSpPr/>
          <p:nvPr/>
        </p:nvSpPr>
        <p:spPr>
          <a:xfrm>
            <a:off x="77724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35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3869741"/>
            <a:ext cx="307238" cy="307238"/>
          </a:xfrm>
          <a:prstGeom prst="rect">
            <a:avLst/>
          </a:prstGeom>
        </p:spPr>
      </p:pic>
      <p:sp>
        <p:nvSpPr>
          <p:cNvPr id="22" name="text-360"/>
          <p:cNvSpPr txBox="1"/>
          <p:nvPr/>
        </p:nvSpPr>
        <p:spPr>
          <a:xfrm>
            <a:off x="1508760" y="3749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時間帯・所要時間</a:t>
            </a:r>
            <a:endParaRPr lang="en-US" sz="1600" dirty="0"/>
          </a:p>
        </p:txBody>
      </p:sp>
      <p:sp>
        <p:nvSpPr>
          <p:cNvPr id="23" name="text-361"/>
          <p:cNvSpPr txBox="1"/>
          <p:nvPr/>
        </p:nvSpPr>
        <p:spPr>
          <a:xfrm>
            <a:off x="1508760" y="417880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例：10:00〜18:00の間で1時間の枠</a:t>
            </a:r>
            <a:endParaRPr lang="en-US" sz="1300" dirty="0"/>
          </a:p>
        </p:txBody>
      </p:sp>
      <p:sp>
        <p:nvSpPr>
          <p:cNvPr id="24" name="card-362"/>
          <p:cNvSpPr/>
          <p:nvPr/>
        </p:nvSpPr>
        <p:spPr>
          <a:xfrm>
            <a:off x="4297680" y="352044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5" name="icon-bg-363"/>
          <p:cNvSpPr/>
          <p:nvPr/>
        </p:nvSpPr>
        <p:spPr>
          <a:xfrm>
            <a:off x="452628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36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981" y="3869741"/>
            <a:ext cx="307238" cy="307238"/>
          </a:xfrm>
          <a:prstGeom prst="rect">
            <a:avLst/>
          </a:prstGeom>
        </p:spPr>
      </p:pic>
      <p:sp>
        <p:nvSpPr>
          <p:cNvPr id="27" name="text-365"/>
          <p:cNvSpPr txBox="1"/>
          <p:nvPr/>
        </p:nvSpPr>
        <p:spPr>
          <a:xfrm>
            <a:off x="5257800" y="3749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候補の数</a:t>
            </a:r>
            <a:endParaRPr lang="en-US" sz="1600" dirty="0"/>
          </a:p>
        </p:txBody>
      </p:sp>
      <p:sp>
        <p:nvSpPr>
          <p:cNvPr id="28" name="text-366"/>
          <p:cNvSpPr txBox="1"/>
          <p:nvPr/>
        </p:nvSpPr>
        <p:spPr>
          <a:xfrm>
            <a:off x="5257800" y="417880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1〜5件。なるべく別々の日になるよう、午前・午後を織り交ぜて選びます</a:t>
            </a:r>
            <a:endParaRPr lang="en-US" sz="1300" dirty="0"/>
          </a:p>
        </p:txBody>
      </p:sp>
      <p:sp>
        <p:nvSpPr>
          <p:cNvPr id="29" name="card-367"/>
          <p:cNvSpPr/>
          <p:nvPr/>
        </p:nvSpPr>
        <p:spPr>
          <a:xfrm>
            <a:off x="8046720" y="352044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30" name="icon-bg-368"/>
          <p:cNvSpPr/>
          <p:nvPr/>
        </p:nvSpPr>
        <p:spPr>
          <a:xfrm>
            <a:off x="827532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con-36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6021" y="3869741"/>
            <a:ext cx="307238" cy="307238"/>
          </a:xfrm>
          <a:prstGeom prst="rect">
            <a:avLst/>
          </a:prstGeom>
        </p:spPr>
      </p:pic>
      <p:sp>
        <p:nvSpPr>
          <p:cNvPr id="32" name="text-370"/>
          <p:cNvSpPr txBox="1"/>
          <p:nvPr/>
        </p:nvSpPr>
        <p:spPr>
          <a:xfrm>
            <a:off x="9006840" y="3749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除外する時間</a:t>
            </a:r>
            <a:endParaRPr lang="en-US" sz="1600" dirty="0"/>
          </a:p>
        </p:txBody>
      </p:sp>
      <p:sp>
        <p:nvSpPr>
          <p:cNvPr id="33" name="text-371"/>
          <p:cNvSpPr txBox="1"/>
          <p:nvPr/>
        </p:nvSpPr>
        <p:spPr>
          <a:xfrm>
            <a:off x="9006840" y="417880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土日・祝日、昼休み（12:00〜13:00）を除外できます</a:t>
            </a:r>
            <a:endParaRPr lang="en-US" sz="1300" dirty="0"/>
          </a:p>
        </p:txBody>
      </p:sp>
      <p:sp>
        <p:nvSpPr>
          <p:cNvPr id="34" name="card-372"/>
          <p:cNvSpPr/>
          <p:nvPr/>
        </p:nvSpPr>
        <p:spPr>
          <a:xfrm>
            <a:off x="548640" y="5257800"/>
            <a:ext cx="111099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35" name="text-373"/>
          <p:cNvSpPr txBox="1"/>
          <p:nvPr/>
        </p:nvSpPr>
        <p:spPr>
          <a:xfrm>
            <a:off x="822960" y="5257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「全員の空きから候補日を探す」を押すと、全員が空いている枠が候補として表示されます。以降はケースA（2/3）と同じ手順です。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先方から返信が来たら｜日程を確定する</a:t>
            </a:r>
            <a:endParaRPr lang="en-US" sz="3200" dirty="0"/>
          </a:p>
        </p:txBody>
      </p:sp>
      <p:sp>
        <p:nvSpPr>
          <p:cNvPr id="3" name="mock-frame-374"/>
          <p:cNvSpPr/>
          <p:nvPr/>
        </p:nvSpPr>
        <p:spPr>
          <a:xfrm>
            <a:off x="548640" y="1371600"/>
            <a:ext cx="4206240" cy="3968496"/>
          </a:xfrm>
          <a:prstGeom prst="roundRect">
            <a:avLst>
              <a:gd name="adj" fmla="val 2304"/>
            </a:avLst>
          </a:prstGeom>
          <a:solidFill>
            <a:schemeClr val="bg1"/>
          </a:solidFill>
          <a:ln w="12700">
            <a:solidFill>
              <a:srgbClr val="C9D3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mock-logo-37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17904"/>
            <a:ext cx="292608" cy="292608"/>
          </a:xfrm>
          <a:prstGeom prst="rect">
            <a:avLst/>
          </a:prstGeom>
        </p:spPr>
      </p:pic>
      <p:sp>
        <p:nvSpPr>
          <p:cNvPr id="5" name="text-376"/>
          <p:cNvSpPr txBox="1"/>
          <p:nvPr/>
        </p:nvSpPr>
        <p:spPr>
          <a:xfrm>
            <a:off x="1097280" y="1481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日程調整アシスタント</a:t>
            </a:r>
            <a:endParaRPr lang="en-US" sz="1200" dirty="0"/>
          </a:p>
        </p:txBody>
      </p:sp>
      <p:sp>
        <p:nvSpPr>
          <p:cNvPr id="6" name="text-377"/>
          <p:cNvSpPr txBox="1"/>
          <p:nvPr/>
        </p:nvSpPr>
        <p:spPr>
          <a:xfrm>
            <a:off x="1097280" y="1719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日程確定</a:t>
            </a:r>
            <a:endParaRPr lang="en-US" sz="1000" dirty="0"/>
          </a:p>
        </p:txBody>
      </p:sp>
      <p:sp>
        <p:nvSpPr>
          <p:cNvPr id="7" name="mock-note-378"/>
          <p:cNvSpPr/>
          <p:nvPr/>
        </p:nvSpPr>
        <p:spPr>
          <a:xfrm>
            <a:off x="777240" y="2084832"/>
            <a:ext cx="3749040" cy="356616"/>
          </a:xfrm>
          <a:prstGeom prst="roundRect">
            <a:avLst>
              <a:gd name="adj" fmla="val 15385"/>
            </a:avLst>
          </a:prstGeom>
          <a:solidFill>
            <a:srgbClr val="E3F4EA"/>
          </a:solidFill>
          <a:ln/>
        </p:spPr>
      </p:sp>
      <p:sp>
        <p:nvSpPr>
          <p:cNvPr id="8" name="text-379"/>
          <p:cNvSpPr txBox="1"/>
          <p:nvPr/>
        </p:nvSpPr>
        <p:spPr>
          <a:xfrm>
            <a:off x="886968" y="2084832"/>
            <a:ext cx="35295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✓ このメールから確定のご連絡を検出しました</a:t>
            </a:r>
            <a:endParaRPr lang="en-US" sz="1050" dirty="0"/>
          </a:p>
        </p:txBody>
      </p:sp>
      <p:sp>
        <p:nvSpPr>
          <p:cNvPr id="9" name="text-380"/>
          <p:cNvSpPr txBox="1"/>
          <p:nvPr/>
        </p:nvSpPr>
        <p:spPr>
          <a:xfrm>
            <a:off x="777240" y="25237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9/16（火）10:00〜11:00　「9/16でお願いします。」</a:t>
            </a:r>
            <a:endParaRPr lang="en-US" sz="1050" dirty="0"/>
          </a:p>
        </p:txBody>
      </p:sp>
      <p:sp>
        <p:nvSpPr>
          <p:cNvPr id="10" name="text-381"/>
          <p:cNvSpPr txBox="1"/>
          <p:nvPr/>
        </p:nvSpPr>
        <p:spPr>
          <a:xfrm>
            <a:off x="777240" y="2852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実行するアクション</a:t>
            </a:r>
            <a:endParaRPr lang="en-US" sz="1100" dirty="0"/>
          </a:p>
        </p:txBody>
      </p:sp>
      <p:sp>
        <p:nvSpPr>
          <p:cNvPr id="11" name="mock-check-382"/>
          <p:cNvSpPr/>
          <p:nvPr/>
        </p:nvSpPr>
        <p:spPr>
          <a:xfrm>
            <a:off x="777240" y="3200400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text-383"/>
          <p:cNvSpPr txBox="1"/>
          <p:nvPr/>
        </p:nvSpPr>
        <p:spPr>
          <a:xfrm>
            <a:off x="777240" y="31821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-384"/>
          <p:cNvSpPr txBox="1"/>
          <p:nvPr/>
        </p:nvSpPr>
        <p:spPr>
          <a:xfrm>
            <a:off x="1069848" y="318211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カレンダーを更新（他の候補は削除）</a:t>
            </a:r>
            <a:endParaRPr lang="en-US" sz="1100" dirty="0"/>
          </a:p>
        </p:txBody>
      </p:sp>
      <p:sp>
        <p:nvSpPr>
          <p:cNvPr id="14" name="mock-check-385"/>
          <p:cNvSpPr/>
          <p:nvPr/>
        </p:nvSpPr>
        <p:spPr>
          <a:xfrm>
            <a:off x="777240" y="352958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text-386"/>
          <p:cNvSpPr txBox="1"/>
          <p:nvPr/>
        </p:nvSpPr>
        <p:spPr>
          <a:xfrm>
            <a:off x="777240" y="35112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-387"/>
          <p:cNvSpPr txBox="1"/>
          <p:nvPr/>
        </p:nvSpPr>
        <p:spPr>
          <a:xfrm>
            <a:off x="1069848" y="3511296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社内参加者にカレンダー招待を送信</a:t>
            </a:r>
            <a:endParaRPr lang="en-US" sz="1100" dirty="0"/>
          </a:p>
        </p:txBody>
      </p:sp>
      <p:sp>
        <p:nvSpPr>
          <p:cNvPr id="17" name="mock-check-388"/>
          <p:cNvSpPr/>
          <p:nvPr/>
        </p:nvSpPr>
        <p:spPr>
          <a:xfrm>
            <a:off x="777240" y="3858768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9AA5AA"/>
            </a:solidFill>
            <a:prstDash val="solid"/>
          </a:ln>
        </p:spPr>
      </p:sp>
      <p:sp>
        <p:nvSpPr>
          <p:cNvPr id="18" name="text-389"/>
          <p:cNvSpPr txBox="1"/>
          <p:nvPr/>
        </p:nvSpPr>
        <p:spPr>
          <a:xfrm>
            <a:off x="1069848" y="384048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先方もカレンダー招待に追加</a:t>
            </a:r>
            <a:endParaRPr lang="en-US" sz="1100" dirty="0"/>
          </a:p>
        </p:txBody>
      </p:sp>
      <p:sp>
        <p:nvSpPr>
          <p:cNvPr id="19" name="mock-check-390"/>
          <p:cNvSpPr/>
          <p:nvPr/>
        </p:nvSpPr>
        <p:spPr>
          <a:xfrm>
            <a:off x="777240" y="4187952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0" name="text-391"/>
          <p:cNvSpPr txBox="1"/>
          <p:nvPr/>
        </p:nvSpPr>
        <p:spPr>
          <a:xfrm>
            <a:off x="777240" y="416966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-392"/>
          <p:cNvSpPr txBox="1"/>
          <p:nvPr/>
        </p:nvSpPr>
        <p:spPr>
          <a:xfrm>
            <a:off x="1069848" y="4169664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返信メールの下書きを作成</a:t>
            </a:r>
            <a:endParaRPr lang="en-US" sz="1100" dirty="0"/>
          </a:p>
        </p:txBody>
      </p:sp>
      <p:sp>
        <p:nvSpPr>
          <p:cNvPr id="22" name="mock-input-393"/>
          <p:cNvSpPr/>
          <p:nvPr/>
        </p:nvSpPr>
        <p:spPr>
          <a:xfrm>
            <a:off x="777240" y="4480560"/>
            <a:ext cx="3749040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rgbClr val="B7C2C6"/>
            </a:solidFill>
            <a:prstDash val="solid"/>
          </a:ln>
        </p:spPr>
      </p:sp>
      <p:sp>
        <p:nvSpPr>
          <p:cNvPr id="23" name="text-394"/>
          <p:cNvSpPr txBox="1"/>
          <p:nvPr/>
        </p:nvSpPr>
        <p:spPr>
          <a:xfrm>
            <a:off x="868680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ビデオ会議：Google Meet　▼</a:t>
            </a:r>
            <a:endParaRPr lang="en-US" sz="1000" dirty="0"/>
          </a:p>
        </p:txBody>
      </p:sp>
      <p:sp>
        <p:nvSpPr>
          <p:cNvPr id="24" name="mock-button-395"/>
          <p:cNvSpPr/>
          <p:nvPr/>
        </p:nvSpPr>
        <p:spPr>
          <a:xfrm>
            <a:off x="777240" y="4809744"/>
            <a:ext cx="374904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5" name="text-396"/>
          <p:cNvSpPr txBox="1"/>
          <p:nvPr/>
        </p:nvSpPr>
        <p:spPr>
          <a:xfrm>
            <a:off x="777240" y="48097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日程を確定する</a:t>
            </a:r>
            <a:endParaRPr lang="en-US" sz="1100" dirty="0"/>
          </a:p>
        </p:txBody>
      </p:sp>
      <p:sp>
        <p:nvSpPr>
          <p:cNvPr id="26" name="num-bg-397"/>
          <p:cNvSpPr/>
          <p:nvPr/>
        </p:nvSpPr>
        <p:spPr>
          <a:xfrm>
            <a:off x="5257800" y="14173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7" name="text-398"/>
          <p:cNvSpPr txBox="1"/>
          <p:nvPr/>
        </p:nvSpPr>
        <p:spPr>
          <a:xfrm>
            <a:off x="5257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8" name="text-399"/>
          <p:cNvSpPr txBox="1"/>
          <p:nvPr/>
        </p:nvSpPr>
        <p:spPr>
          <a:xfrm>
            <a:off x="5943600" y="13990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返信メールを開く</a:t>
            </a:r>
            <a:endParaRPr lang="en-US" sz="1800" dirty="0"/>
          </a:p>
        </p:txBody>
      </p:sp>
      <p:sp>
        <p:nvSpPr>
          <p:cNvPr id="29" name="text-400"/>
          <p:cNvSpPr txBox="1"/>
          <p:nvPr/>
        </p:nvSpPr>
        <p:spPr>
          <a:xfrm>
            <a:off x="5943600" y="1828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先方の返信を開くと、自動で「日程確定」画面になります</a:t>
            </a:r>
            <a:endParaRPr lang="en-US" sz="1400" dirty="0"/>
          </a:p>
        </p:txBody>
      </p:sp>
      <p:sp>
        <p:nvSpPr>
          <p:cNvPr id="30" name="num-bg-401"/>
          <p:cNvSpPr/>
          <p:nvPr/>
        </p:nvSpPr>
        <p:spPr>
          <a:xfrm>
            <a:off x="5257800" y="25603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1" name="text-402"/>
          <p:cNvSpPr txBox="1"/>
          <p:nvPr/>
        </p:nvSpPr>
        <p:spPr>
          <a:xfrm>
            <a:off x="52578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32" name="text-403"/>
          <p:cNvSpPr txBox="1"/>
          <p:nvPr/>
        </p:nvSpPr>
        <p:spPr>
          <a:xfrm>
            <a:off x="5943600" y="25420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確定日を確認</a:t>
            </a:r>
            <a:endParaRPr lang="en-US" sz="1800" dirty="0"/>
          </a:p>
        </p:txBody>
      </p:sp>
      <p:sp>
        <p:nvSpPr>
          <p:cNvPr id="33" name="text-404"/>
          <p:cNvSpPr txBox="1"/>
          <p:nvPr/>
        </p:nvSpPr>
        <p:spPr>
          <a:xfrm>
            <a:off x="5943600" y="2971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検出された日時を確認。違う場合は一覧から選び直します</a:t>
            </a:r>
            <a:endParaRPr lang="en-US" sz="1400" dirty="0"/>
          </a:p>
        </p:txBody>
      </p:sp>
      <p:sp>
        <p:nvSpPr>
          <p:cNvPr id="34" name="num-bg-405"/>
          <p:cNvSpPr/>
          <p:nvPr/>
        </p:nvSpPr>
        <p:spPr>
          <a:xfrm>
            <a:off x="5257800" y="37033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5" name="text-406"/>
          <p:cNvSpPr txBox="1"/>
          <p:nvPr/>
        </p:nvSpPr>
        <p:spPr>
          <a:xfrm>
            <a:off x="52578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6" name="text-407"/>
          <p:cNvSpPr txBox="1"/>
          <p:nvPr/>
        </p:nvSpPr>
        <p:spPr>
          <a:xfrm>
            <a:off x="5943600" y="36850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アクションと会議を選ぶ</a:t>
            </a:r>
            <a:endParaRPr lang="en-US" sz="1800" dirty="0"/>
          </a:p>
        </p:txBody>
      </p:sp>
      <p:sp>
        <p:nvSpPr>
          <p:cNvPr id="37" name="text-408"/>
          <p:cNvSpPr txBox="1"/>
          <p:nvPr/>
        </p:nvSpPr>
        <p:spPr>
          <a:xfrm>
            <a:off x="5943600" y="4114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Web会議は「Google Meet」、訪問なら「作成しない」を選択</a:t>
            </a:r>
            <a:endParaRPr lang="en-US" sz="1400" dirty="0"/>
          </a:p>
        </p:txBody>
      </p:sp>
      <p:sp>
        <p:nvSpPr>
          <p:cNvPr id="38" name="num-bg-409"/>
          <p:cNvSpPr/>
          <p:nvPr/>
        </p:nvSpPr>
        <p:spPr>
          <a:xfrm>
            <a:off x="5257800" y="48463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9" name="text-410"/>
          <p:cNvSpPr txBox="1"/>
          <p:nvPr/>
        </p:nvSpPr>
        <p:spPr>
          <a:xfrm>
            <a:off x="525780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40" name="text-411"/>
          <p:cNvSpPr txBox="1"/>
          <p:nvPr/>
        </p:nvSpPr>
        <p:spPr>
          <a:xfrm>
            <a:off x="5943600" y="48280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「日程を確定する」</a:t>
            </a:r>
            <a:endParaRPr lang="en-US" sz="1800" dirty="0"/>
          </a:p>
        </p:txBody>
      </p:sp>
      <p:sp>
        <p:nvSpPr>
          <p:cNvPr id="41" name="text-412"/>
          <p:cNvSpPr txBox="1"/>
          <p:nvPr/>
        </p:nvSpPr>
        <p:spPr>
          <a:xfrm>
            <a:off x="5943600" y="5257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予定の【確定】化、Meet発行、確定メールの下書き作成がまとめて完了</a:t>
            </a:r>
            <a:endParaRPr lang="en-US" sz="1400" dirty="0"/>
          </a:p>
        </p:txBody>
      </p:sp>
      <p:sp>
        <p:nvSpPr>
          <p:cNvPr id="42" name="text-413"/>
          <p:cNvSpPr txBox="1"/>
          <p:nvPr/>
        </p:nvSpPr>
        <p:spPr>
          <a:xfrm>
            <a:off x="5943600" y="5806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「確定して下書きを開く」を押すと、そのままメール作成画面が開きます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予定が合わない・中止になったときは</a:t>
            </a:r>
            <a:endParaRPr lang="en-US" sz="3200" dirty="0"/>
          </a:p>
        </p:txBody>
      </p:sp>
      <p:sp>
        <p:nvSpPr>
          <p:cNvPr id="3" name="card-414"/>
          <p:cNvSpPr/>
          <p:nvPr/>
        </p:nvSpPr>
        <p:spPr>
          <a:xfrm>
            <a:off x="548640" y="146304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icon-bg-415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41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953" y="1908353"/>
            <a:ext cx="435254" cy="435254"/>
          </a:xfrm>
          <a:prstGeom prst="rect">
            <a:avLst/>
          </a:prstGeom>
        </p:spPr>
      </p:pic>
      <p:sp>
        <p:nvSpPr>
          <p:cNvPr id="6" name="text-417"/>
          <p:cNvSpPr txBox="1"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候補日を出し直す</a:t>
            </a:r>
            <a:endParaRPr lang="en-US" sz="2000" dirty="0"/>
          </a:p>
        </p:txBody>
      </p:sp>
      <p:sp>
        <p:nvSpPr>
          <p:cNvPr id="7" name="text-418"/>
          <p:cNvSpPr txBox="1"/>
          <p:nvPr/>
        </p:nvSpPr>
        <p:spPr>
          <a:xfrm>
            <a:off x="822960" y="3246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先方から「いずれも難しい」と返信が来たとき</a:t>
            </a:r>
            <a:endParaRPr lang="en-US" sz="1400" dirty="0"/>
          </a:p>
        </p:txBody>
      </p:sp>
      <p:sp>
        <p:nvSpPr>
          <p:cNvPr id="8" name="text-419"/>
          <p:cNvSpPr txBox="1"/>
          <p:nvPr/>
        </p:nvSpPr>
        <p:spPr>
          <a:xfrm>
            <a:off x="822960" y="40690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仮押さえを削除して「新規で作成」画面へ。新しい候補を探して再度打診できます</a:t>
            </a:r>
            <a:endParaRPr lang="en-US" sz="1400" dirty="0"/>
          </a:p>
        </p:txBody>
      </p:sp>
      <p:sp>
        <p:nvSpPr>
          <p:cNvPr id="9" name="card-420"/>
          <p:cNvSpPr/>
          <p:nvPr/>
        </p:nvSpPr>
        <p:spPr>
          <a:xfrm>
            <a:off x="4297680" y="146304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0" name="icon-bg-421"/>
          <p:cNvSpPr/>
          <p:nvPr/>
        </p:nvSpPr>
        <p:spPr>
          <a:xfrm>
            <a:off x="4572000" y="173736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con-42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993" y="1908353"/>
            <a:ext cx="435254" cy="435254"/>
          </a:xfrm>
          <a:prstGeom prst="rect">
            <a:avLst/>
          </a:prstGeom>
        </p:spPr>
      </p:pic>
      <p:sp>
        <p:nvSpPr>
          <p:cNvPr id="12" name="text-423"/>
          <p:cNvSpPr txBox="1"/>
          <p:nvPr/>
        </p:nvSpPr>
        <p:spPr>
          <a:xfrm>
            <a:off x="457200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調整を中止</a:t>
            </a:r>
            <a:endParaRPr lang="en-US" sz="2000" dirty="0"/>
          </a:p>
        </p:txBody>
      </p:sp>
      <p:sp>
        <p:nvSpPr>
          <p:cNvPr id="13" name="text-424"/>
          <p:cNvSpPr txBox="1"/>
          <p:nvPr/>
        </p:nvSpPr>
        <p:spPr>
          <a:xfrm>
            <a:off x="4572000" y="3246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打ち合わせ自体がなくなったとき</a:t>
            </a:r>
            <a:endParaRPr lang="en-US" sz="1400" dirty="0"/>
          </a:p>
        </p:txBody>
      </p:sp>
      <p:sp>
        <p:nvSpPr>
          <p:cNvPr id="14" name="text-425"/>
          <p:cNvSpPr txBox="1"/>
          <p:nvPr/>
        </p:nvSpPr>
        <p:spPr>
          <a:xfrm>
            <a:off x="4572000" y="40690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仮押さえをすべて削除し、この日程調整を終了します</a:t>
            </a:r>
            <a:endParaRPr lang="en-US" sz="1400" dirty="0"/>
          </a:p>
        </p:txBody>
      </p:sp>
      <p:sp>
        <p:nvSpPr>
          <p:cNvPr id="15" name="card-426"/>
          <p:cNvSpPr/>
          <p:nvPr/>
        </p:nvSpPr>
        <p:spPr>
          <a:xfrm>
            <a:off x="8046720" y="146304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6" name="icon-bg-427"/>
          <p:cNvSpPr/>
          <p:nvPr/>
        </p:nvSpPr>
        <p:spPr>
          <a:xfrm>
            <a:off x="8321040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42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1908353"/>
            <a:ext cx="435254" cy="435254"/>
          </a:xfrm>
          <a:prstGeom prst="rect">
            <a:avLst/>
          </a:prstGeom>
        </p:spPr>
      </p:pic>
      <p:sp>
        <p:nvSpPr>
          <p:cNvPr id="18" name="text-429"/>
          <p:cNvSpPr txBox="1"/>
          <p:nvPr/>
        </p:nvSpPr>
        <p:spPr>
          <a:xfrm>
            <a:off x="83210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進行中の日程調整</a:t>
            </a:r>
            <a:endParaRPr lang="en-US" sz="2000" dirty="0"/>
          </a:p>
        </p:txBody>
      </p:sp>
      <p:sp>
        <p:nvSpPr>
          <p:cNvPr id="19" name="text-430"/>
          <p:cNvSpPr txBox="1"/>
          <p:nvPr/>
        </p:nvSpPr>
        <p:spPr>
          <a:xfrm>
            <a:off x="8321040" y="3246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返信を開いても確定画面が出ないとき</a:t>
            </a:r>
            <a:endParaRPr lang="en-US" sz="1400" dirty="0"/>
          </a:p>
        </p:txBody>
      </p:sp>
      <p:sp>
        <p:nvSpPr>
          <p:cNvPr id="20" name="text-431"/>
          <p:cNvSpPr txBox="1"/>
          <p:nvPr/>
        </p:nvSpPr>
        <p:spPr>
          <a:xfrm>
            <a:off x="8321040" y="40690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右上「︙」メニューから一覧を開き、案件を選んで確定・中止できます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-432"/>
          <p:cNvSpPr/>
          <p:nvPr/>
        </p:nvSpPr>
        <p:spPr>
          <a:xfrm>
            <a:off x="822960" y="269748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-43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979115"/>
            <a:ext cx="716890" cy="716890"/>
          </a:xfrm>
          <a:prstGeom prst="rect">
            <a:avLst/>
          </a:prstGeom>
        </p:spPr>
      </p:pic>
      <p:sp>
        <p:nvSpPr>
          <p:cNvPr id="4" name="text-434"/>
          <p:cNvSpPr txBox="1"/>
          <p:nvPr/>
        </p:nvSpPr>
        <p:spPr>
          <a:xfrm>
            <a:off x="23774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PART 3</a:t>
            </a:r>
            <a:endParaRPr lang="en-US" sz="16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377440" y="26517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運用ルールとFAQ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2377440" y="361188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気持ちよく使うためのお願いと、よくある質問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運用ルール（お願い）</a:t>
            </a:r>
            <a:endParaRPr lang="en-US" sz="3200" dirty="0"/>
          </a:p>
        </p:txBody>
      </p:sp>
      <p:sp>
        <p:nvSpPr>
          <p:cNvPr id="3" name="card-435"/>
          <p:cNvSpPr/>
          <p:nvPr/>
        </p:nvSpPr>
        <p:spPr>
          <a:xfrm>
            <a:off x="548640" y="146304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icon-bg-436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43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98294"/>
            <a:ext cx="409651" cy="409651"/>
          </a:xfrm>
          <a:prstGeom prst="rect">
            <a:avLst/>
          </a:prstGeom>
        </p:spPr>
      </p:pic>
      <p:sp>
        <p:nvSpPr>
          <p:cNvPr id="6" name="text-438"/>
          <p:cNvSpPr txBox="1"/>
          <p:nvPr/>
        </p:nvSpPr>
        <p:spPr>
          <a:xfrm>
            <a:off x="1783080" y="1737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送信前に必ず下書きを確認</a:t>
            </a:r>
            <a:endParaRPr lang="en-US" sz="1800" dirty="0"/>
          </a:p>
        </p:txBody>
      </p:sp>
      <p:sp>
        <p:nvSpPr>
          <p:cNvPr id="7" name="text-439"/>
          <p:cNvSpPr txBox="1"/>
          <p:nvPr/>
        </p:nvSpPr>
        <p:spPr>
          <a:xfrm>
            <a:off x="1783080" y="22860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候補日の抽出・確定日の検出は自動の推定です。日時・宛先・本文を確認してから送信してください</a:t>
            </a:r>
            <a:endParaRPr lang="en-US" sz="1400" dirty="0"/>
          </a:p>
        </p:txBody>
      </p:sp>
      <p:sp>
        <p:nvSpPr>
          <p:cNvPr id="8" name="card-440"/>
          <p:cNvSpPr/>
          <p:nvPr/>
        </p:nvSpPr>
        <p:spPr>
          <a:xfrm>
            <a:off x="6217920" y="146304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icon-bg-441"/>
          <p:cNvSpPr/>
          <p:nvPr/>
        </p:nvSpPr>
        <p:spPr>
          <a:xfrm>
            <a:off x="649224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44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174" y="1898294"/>
            <a:ext cx="409651" cy="409651"/>
          </a:xfrm>
          <a:prstGeom prst="rect">
            <a:avLst/>
          </a:prstGeom>
        </p:spPr>
      </p:pic>
      <p:sp>
        <p:nvSpPr>
          <p:cNvPr id="11" name="text-443"/>
          <p:cNvSpPr txBox="1"/>
          <p:nvPr/>
        </p:nvSpPr>
        <p:spPr>
          <a:xfrm>
            <a:off x="7452360" y="1737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仮押さえは放置しない</a:t>
            </a:r>
            <a:endParaRPr lang="en-US" sz="1800" dirty="0"/>
          </a:p>
        </p:txBody>
      </p:sp>
      <p:sp>
        <p:nvSpPr>
          <p:cNvPr id="12" name="text-444"/>
          <p:cNvSpPr txBox="1"/>
          <p:nvPr/>
        </p:nvSpPr>
        <p:spPr>
          <a:xfrm>
            <a:off x="7452360" y="22860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先方が見送った案件は「調整を中止」で仮押さえを削除し、参加者のカレンダーを空けてください</a:t>
            </a:r>
            <a:endParaRPr lang="en-US" sz="1400" dirty="0"/>
          </a:p>
        </p:txBody>
      </p:sp>
      <p:sp>
        <p:nvSpPr>
          <p:cNvPr id="13" name="card-445"/>
          <p:cNvSpPr/>
          <p:nvPr/>
        </p:nvSpPr>
        <p:spPr>
          <a:xfrm>
            <a:off x="548640" y="374904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icon-bg-446"/>
          <p:cNvSpPr/>
          <p:nvPr/>
        </p:nvSpPr>
        <p:spPr>
          <a:xfrm>
            <a:off x="822960" y="4023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44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4184294"/>
            <a:ext cx="409651" cy="409651"/>
          </a:xfrm>
          <a:prstGeom prst="rect">
            <a:avLst/>
          </a:prstGeom>
        </p:spPr>
      </p:pic>
      <p:sp>
        <p:nvSpPr>
          <p:cNvPr id="16" name="text-448"/>
          <p:cNvSpPr txBox="1"/>
          <p:nvPr/>
        </p:nvSpPr>
        <p:spPr>
          <a:xfrm>
            <a:off x="1783080" y="4023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カレンダーを社内共有する</a:t>
            </a:r>
            <a:endParaRPr lang="en-US" sz="1800" dirty="0"/>
          </a:p>
        </p:txBody>
      </p:sp>
      <p:sp>
        <p:nvSpPr>
          <p:cNvPr id="17" name="text-449"/>
          <p:cNvSpPr txBox="1"/>
          <p:nvPr/>
        </p:nvSpPr>
        <p:spPr>
          <a:xfrm>
            <a:off x="1783080" y="45720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「確認不可」になると空き確認ができません。社内に空き時間情報を共有してください</a:t>
            </a:r>
            <a:endParaRPr lang="en-US" sz="1400" dirty="0"/>
          </a:p>
        </p:txBody>
      </p:sp>
      <p:sp>
        <p:nvSpPr>
          <p:cNvPr id="18" name="card-450"/>
          <p:cNvSpPr/>
          <p:nvPr/>
        </p:nvSpPr>
        <p:spPr>
          <a:xfrm>
            <a:off x="6217920" y="374904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icon-bg-451"/>
          <p:cNvSpPr/>
          <p:nvPr/>
        </p:nvSpPr>
        <p:spPr>
          <a:xfrm>
            <a:off x="6492240" y="4023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45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174" y="4184294"/>
            <a:ext cx="409651" cy="409651"/>
          </a:xfrm>
          <a:prstGeom prst="rect">
            <a:avLst/>
          </a:prstGeom>
        </p:spPr>
      </p:pic>
      <p:sp>
        <p:nvSpPr>
          <p:cNvPr id="21" name="text-453"/>
          <p:cNvSpPr txBox="1"/>
          <p:nvPr/>
        </p:nvSpPr>
        <p:spPr>
          <a:xfrm>
            <a:off x="7452360" y="4023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先方指定の会議URLは手入力</a:t>
            </a:r>
            <a:endParaRPr lang="en-US" sz="1800" dirty="0"/>
          </a:p>
        </p:txBody>
      </p:sp>
      <p:sp>
        <p:nvSpPr>
          <p:cNvPr id="22" name="text-454"/>
          <p:cNvSpPr txBox="1"/>
          <p:nvPr/>
        </p:nvSpPr>
        <p:spPr>
          <a:xfrm>
            <a:off x="7452360" y="45720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先方がZoom・Teamsを指定した場合は「その他（URL手入力）」を選びURLを貼り付けます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よくある質問</a:t>
            </a:r>
            <a:endParaRPr lang="en-US" sz="3200" dirty="0"/>
          </a:p>
        </p:txBody>
      </p:sp>
      <p:graphicFrame>
        <p:nvGraphicFramePr>
          <p:cNvPr id="20" name="faq-4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7726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質問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回答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3C49"/>
                          </a:solidFill>
                        </a:rPr>
                        <a:t>候補日が抽出されない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書き方が特殊な場合があります。「候補を手入力で追加」に「9/18 14:00〜15:00」の形で入力してください</a:t>
                      </a:r>
                      <a:endParaRPr lang="en-US" sz="1300" dirty="0"/>
                    </a:p>
                  </a:txBody>
                  <a:tcPr marL="137160" marR="137160" marT="73152" marB="73152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3C49"/>
                          </a:solidFill>
                        </a:rPr>
                        <a:t>「1時〜2時」はどう解釈される？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午前・午後の指定がない1〜7時は、13〜19時として扱います。違う場合は手入力で修正してください</a:t>
                      </a:r>
                      <a:endParaRPr lang="en-US" sz="1300" dirty="0"/>
                    </a:p>
                  </a:txBody>
                  <a:tcPr marL="137160" marR="137160" marT="73152" marB="73152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3C49"/>
                          </a:solidFill>
                        </a:rPr>
                        <a:t>「確認不可」と表示される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その人のカレンダーが共有されていないか、社外のアドレスです。社内は共有設定を確認してください</a:t>
                      </a:r>
                      <a:endParaRPr lang="en-US" sz="1300" dirty="0"/>
                    </a:p>
                  </a:txBody>
                  <a:tcPr marL="137160" marR="137160" marT="73152" marB="73152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3C49"/>
                          </a:solidFill>
                        </a:rPr>
                        <a:t>返信を開いても確定画面が出ない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件名が大きく変わった場合などに起こります。「︙」→「進行中の日程調整」から開いてください</a:t>
                      </a:r>
                      <a:endParaRPr lang="en-US" sz="1300" dirty="0"/>
                    </a:p>
                  </a:txBody>
                  <a:tcPr marL="137160" marR="137160" marT="73152" marB="73152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3C49"/>
                          </a:solidFill>
                        </a:rPr>
                        <a:t>アドオンが表示されない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Gmailを再読み込みし、右側のパネルが閉じていないか確認。解決しなければ管理者へ連絡してください</a:t>
                      </a:r>
                      <a:endParaRPr lang="en-US" sz="1300" dirty="0"/>
                    </a:p>
                  </a:txBody>
                  <a:tcPr marL="137160" marR="137160" marT="73152" marB="73152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-456"/>
          <p:cNvSpPr/>
          <p:nvPr/>
        </p:nvSpPr>
        <p:spPr>
          <a:xfrm>
            <a:off x="731520" y="8229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-45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044245"/>
            <a:ext cx="563270" cy="56327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困ったときは、お気軽にご相談ください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問い合わせ窓口：【部署名・担当者名・連絡先を記入】</a:t>
            </a:r>
            <a:endParaRPr lang="en-US" sz="2200" dirty="0"/>
          </a:p>
        </p:txBody>
      </p:sp>
      <p:sp>
        <p:nvSpPr>
          <p:cNvPr id="6" name="text-458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抽出できなかったメールの例や、文面・件名ルールの改善要望も歓迎します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eduling Assistant">
  <a:themeElements>
    <a:clrScheme name="Scheduling Assistant">
      <a:dk1>
        <a:srgbClr val="1F2A30"/>
      </a:dk1>
      <a:lt1>
        <a:srgbClr val="FFFFFF"/>
      </a:lt1>
      <a:dk2>
        <a:srgbClr val="0B3C49"/>
      </a:dk2>
      <a:lt2>
        <a:srgbClr val="EEF5F4"/>
      </a:lt2>
      <a:accent1>
        <a:srgbClr val="0B7A75"/>
      </a:accent1>
      <a:accent2>
        <a:srgbClr val="E89A1C"/>
      </a:accent2>
      <a:accent3>
        <a:srgbClr val="2E9E5B"/>
      </a:accent3>
      <a:accent4>
        <a:srgbClr val="D9534F"/>
      </a:accent4>
      <a:accent5>
        <a:srgbClr val="8FD3C7"/>
      </a:accent5>
      <a:accent6>
        <a:srgbClr val="6B7B83"/>
      </a:accent6>
      <a:hlink>
        <a:srgbClr val="0B7A75"/>
      </a:hlink>
      <a:folHlink>
        <a:srgbClr val="0B3C49"/>
      </a:folHlink>
    </a:clrScheme>
    <a:fontScheme name="Scheduling Assistant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日程調整アシスタント 利用マニュアル</dc:title>
  <dc:subject>PptxGenJS Presentation</dc:subject>
  <dc:creator>日程調整アシスタント導入チーム</dc:creator>
  <cp:lastModifiedBy>日程調整アシスタント導入チーム</cp:lastModifiedBy>
  <cp:revision>1</cp:revision>
  <dcterms:created xsi:type="dcterms:W3CDTF">2026-10-15T02:40:04Z</dcterms:created>
  <dcterms:modified xsi:type="dcterms:W3CDTF">2026-10-15T02:40:04Z</dcterms:modified>
</cp:coreProperties>
</file>